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Roboto" panose="02000000000000000000" pitchFamily="2" charset="0"/>
      <p:regular r:id="rId17"/>
      <p:bold r:id="rId18"/>
    </p:embeddedFont>
    <p:embeddedFont>
      <p:font typeface="Roboto Slab"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7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2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9810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04338" y="54816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Smart Home Automation with Arduino IoT Cloud</a:t>
            </a:r>
            <a:endParaRPr lang="en-US" sz="4450" dirty="0"/>
          </a:p>
        </p:txBody>
      </p:sp>
      <p:sp>
        <p:nvSpPr>
          <p:cNvPr id="4" name="Text 1"/>
          <p:cNvSpPr/>
          <p:nvPr/>
        </p:nvSpPr>
        <p:spPr>
          <a:xfrm>
            <a:off x="704338" y="2282268"/>
            <a:ext cx="7556421" cy="254031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Welcome to this presentation on building a smart home automation system using the Arduino IoT Cloud! In this session, we'll explore how to remotely control home appliances from anywhere in the world. We'll discuss the benefits of using the Arduino IoT Cloud, which offers a free, real-time, and scalable platform for your IoT projects. Our main objective is to construct a Wi-Fi-enabled system using NodeMCU and a relay module. Let's dive in and discover the possibilities!</a:t>
            </a:r>
            <a:endParaRPr lang="en-US" sz="1750" dirty="0"/>
          </a:p>
        </p:txBody>
      </p:sp>
      <p:sp>
        <p:nvSpPr>
          <p:cNvPr id="5" name="TextBox 4">
            <a:extLst>
              <a:ext uri="{FF2B5EF4-FFF2-40B4-BE49-F238E27FC236}">
                <a16:creationId xmlns:a16="http://schemas.microsoft.com/office/drawing/2014/main" id="{5CC1A5BA-FF9F-EFA2-9EE1-F813A497AC54}"/>
              </a:ext>
            </a:extLst>
          </p:cNvPr>
          <p:cNvSpPr txBox="1"/>
          <p:nvPr/>
        </p:nvSpPr>
        <p:spPr>
          <a:xfrm>
            <a:off x="704337" y="5337313"/>
            <a:ext cx="7654472" cy="2062103"/>
          </a:xfrm>
          <a:prstGeom prst="rect">
            <a:avLst/>
          </a:prstGeom>
          <a:noFill/>
        </p:spPr>
        <p:txBody>
          <a:bodyPr wrap="square" rtlCol="0">
            <a:spAutoFit/>
          </a:bodyPr>
          <a:lstStyle/>
          <a:p>
            <a:r>
              <a:rPr lang="en-US" sz="3200" dirty="0">
                <a:solidFill>
                  <a:srgbClr val="D6E5EF"/>
                </a:solidFill>
                <a:latin typeface="Roboto" pitchFamily="34" charset="0"/>
                <a:ea typeface="Roboto" pitchFamily="34" charset="-122"/>
                <a:cs typeface="Roboto" pitchFamily="34" charset="-120"/>
              </a:rPr>
              <a:t>By Batch 11</a:t>
            </a:r>
            <a:endParaRPr lang="en-US" sz="3200" dirty="0"/>
          </a:p>
          <a:p>
            <a:r>
              <a:rPr lang="en-IN" sz="2400" dirty="0"/>
              <a:t>                        </a:t>
            </a:r>
            <a:r>
              <a:rPr lang="en-IN" sz="2400" dirty="0">
                <a:solidFill>
                  <a:schemeClr val="bg1"/>
                </a:solidFill>
              </a:rPr>
              <a:t>Saravanan C  - 727723eucs214</a:t>
            </a:r>
          </a:p>
          <a:p>
            <a:r>
              <a:rPr lang="en-IN" sz="2400" dirty="0">
                <a:solidFill>
                  <a:schemeClr val="bg1"/>
                </a:solidFill>
              </a:rPr>
              <a:t>                        Santhosh S – 727723eucs208</a:t>
            </a:r>
          </a:p>
          <a:p>
            <a:r>
              <a:rPr lang="en-IN" sz="2400" dirty="0">
                <a:solidFill>
                  <a:schemeClr val="bg1"/>
                </a:solidFill>
              </a:rPr>
              <a:t>                        </a:t>
            </a:r>
            <a:r>
              <a:rPr lang="en-IN" sz="2400" dirty="0" err="1">
                <a:solidFill>
                  <a:schemeClr val="bg1"/>
                </a:solidFill>
              </a:rPr>
              <a:t>Saranish</a:t>
            </a:r>
            <a:r>
              <a:rPr lang="en-IN" sz="2400" dirty="0">
                <a:solidFill>
                  <a:schemeClr val="bg1"/>
                </a:solidFill>
              </a:rPr>
              <a:t> R – 727723eucs212</a:t>
            </a:r>
          </a:p>
          <a:p>
            <a:r>
              <a:rPr lang="en-IN" sz="2400" dirty="0">
                <a:solidFill>
                  <a:schemeClr val="bg1"/>
                </a:solidFill>
              </a:rPr>
              <a:t>                        Rudhresh  A – 727723eucs196</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32704"/>
            <a:ext cx="12536091"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Introduction to Cloud-Based Home Automation</a:t>
            </a:r>
            <a:endParaRPr lang="en-US" sz="4450" dirty="0"/>
          </a:p>
        </p:txBody>
      </p:sp>
      <p:sp>
        <p:nvSpPr>
          <p:cNvPr id="3" name="Text 1"/>
          <p:cNvSpPr/>
          <p:nvPr/>
        </p:nvSpPr>
        <p:spPr>
          <a:xfrm>
            <a:off x="793790" y="29084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What?</a:t>
            </a:r>
            <a:endParaRPr lang="en-US" sz="2200" dirty="0"/>
          </a:p>
        </p:txBody>
      </p:sp>
      <p:sp>
        <p:nvSpPr>
          <p:cNvPr id="4" name="Text 2"/>
          <p:cNvSpPr/>
          <p:nvPr/>
        </p:nvSpPr>
        <p:spPr>
          <a:xfrm>
            <a:off x="793790" y="3489603"/>
            <a:ext cx="3978116" cy="2903220"/>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Cloud-based home automation allows you to remotely control your home appliances from anywhere using an internet connection. This is achieved through a combination of hardware and software components that communicate with each other via the cloud.</a:t>
            </a:r>
            <a:endParaRPr lang="en-US" sz="1750" dirty="0"/>
          </a:p>
        </p:txBody>
      </p:sp>
      <p:sp>
        <p:nvSpPr>
          <p:cNvPr id="5" name="Text 3"/>
          <p:cNvSpPr/>
          <p:nvPr/>
        </p:nvSpPr>
        <p:spPr>
          <a:xfrm>
            <a:off x="5332928" y="2908459"/>
            <a:ext cx="3272433"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Why Arduino IoT Cloud?</a:t>
            </a:r>
            <a:endParaRPr lang="en-US" sz="2200" dirty="0"/>
          </a:p>
        </p:txBody>
      </p:sp>
      <p:sp>
        <p:nvSpPr>
          <p:cNvPr id="6" name="Text 4"/>
          <p:cNvSpPr/>
          <p:nvPr/>
        </p:nvSpPr>
        <p:spPr>
          <a:xfrm>
            <a:off x="5332928" y="3489603"/>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It is free to use for basic projects.</a:t>
            </a:r>
            <a:endParaRPr lang="en-US" sz="1750" dirty="0"/>
          </a:p>
        </p:txBody>
      </p:sp>
      <p:sp>
        <p:nvSpPr>
          <p:cNvPr id="7" name="Text 5"/>
          <p:cNvSpPr/>
          <p:nvPr/>
        </p:nvSpPr>
        <p:spPr>
          <a:xfrm>
            <a:off x="5332928" y="3931801"/>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Offers real-time control over your devices.</a:t>
            </a:r>
            <a:endParaRPr lang="en-US" sz="1750" dirty="0"/>
          </a:p>
        </p:txBody>
      </p:sp>
      <p:sp>
        <p:nvSpPr>
          <p:cNvPr id="8" name="Text 6"/>
          <p:cNvSpPr/>
          <p:nvPr/>
        </p:nvSpPr>
        <p:spPr>
          <a:xfrm>
            <a:off x="5332928" y="4736902"/>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It is highly scalable for larger deployments.</a:t>
            </a:r>
            <a:endParaRPr lang="en-US" sz="1750" dirty="0"/>
          </a:p>
        </p:txBody>
      </p:sp>
      <p:sp>
        <p:nvSpPr>
          <p:cNvPr id="9" name="Text 7"/>
          <p:cNvSpPr/>
          <p:nvPr/>
        </p:nvSpPr>
        <p:spPr>
          <a:xfrm>
            <a:off x="9872067" y="29084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Objective</a:t>
            </a:r>
            <a:endParaRPr lang="en-US" sz="2200" dirty="0"/>
          </a:p>
        </p:txBody>
      </p:sp>
      <p:sp>
        <p:nvSpPr>
          <p:cNvPr id="10" name="Text 8"/>
          <p:cNvSpPr/>
          <p:nvPr/>
        </p:nvSpPr>
        <p:spPr>
          <a:xfrm>
            <a:off x="9872067" y="3489603"/>
            <a:ext cx="3978116" cy="1814513"/>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Our goal is to build a simple yet effective Wi-Fi-enabled system using a NodeMCU ESP8266 microcontroller and a 5V relay module, all managed through the Arduino IoT Cloud.</a:t>
            </a:r>
            <a:endParaRPr lang="en-US" sz="1750" dirty="0"/>
          </a:p>
        </p:txBody>
      </p:sp>
      <p:sp>
        <p:nvSpPr>
          <p:cNvPr id="11" name="Rectangle 10">
            <a:extLst>
              <a:ext uri="{FF2B5EF4-FFF2-40B4-BE49-F238E27FC236}">
                <a16:creationId xmlns:a16="http://schemas.microsoft.com/office/drawing/2014/main" id="{C77427BA-3F09-0558-3090-1FAD278FB2D0}"/>
              </a:ext>
            </a:extLst>
          </p:cNvPr>
          <p:cNvSpPr/>
          <p:nvPr/>
        </p:nvSpPr>
        <p:spPr>
          <a:xfrm>
            <a:off x="12741965" y="7543800"/>
            <a:ext cx="1789044" cy="685800"/>
          </a:xfrm>
          <a:prstGeom prst="rect">
            <a:avLst/>
          </a:prstGeom>
          <a:solidFill>
            <a:srgbClr val="202733"/>
          </a:solidFill>
          <a:ln>
            <a:solidFill>
              <a:srgbClr val="2027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417201"/>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Essential Components for Your Smart Home Project</a:t>
            </a:r>
            <a:endParaRPr lang="en-US" sz="4450" dirty="0"/>
          </a:p>
        </p:txBody>
      </p:sp>
      <p:sp>
        <p:nvSpPr>
          <p:cNvPr id="3" name="Shape 1"/>
          <p:cNvSpPr/>
          <p:nvPr/>
        </p:nvSpPr>
        <p:spPr>
          <a:xfrm>
            <a:off x="793790" y="3543538"/>
            <a:ext cx="510302" cy="510302"/>
          </a:xfrm>
          <a:prstGeom prst="roundRect">
            <a:avLst>
              <a:gd name="adj" fmla="val 6667"/>
            </a:avLst>
          </a:prstGeom>
          <a:solidFill>
            <a:srgbClr val="3F4652"/>
          </a:solidFill>
          <a:ln/>
        </p:spPr>
      </p:sp>
      <p:sp>
        <p:nvSpPr>
          <p:cNvPr id="4" name="Text 2"/>
          <p:cNvSpPr/>
          <p:nvPr/>
        </p:nvSpPr>
        <p:spPr>
          <a:xfrm>
            <a:off x="878860" y="358604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6E5EF"/>
                </a:solidFill>
                <a:latin typeface="Roboto Slab" pitchFamily="34" charset="0"/>
                <a:ea typeface="Roboto Slab" pitchFamily="34" charset="-122"/>
                <a:cs typeface="Roboto Slab" pitchFamily="34" charset="-120"/>
              </a:rPr>
              <a:t>1</a:t>
            </a:r>
            <a:endParaRPr lang="en-US" sz="2650" dirty="0"/>
          </a:p>
        </p:txBody>
      </p:sp>
      <p:sp>
        <p:nvSpPr>
          <p:cNvPr id="5" name="Text 3"/>
          <p:cNvSpPr/>
          <p:nvPr/>
        </p:nvSpPr>
        <p:spPr>
          <a:xfrm>
            <a:off x="1530906" y="35435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NodeMCU ESP8266</a:t>
            </a:r>
            <a:endParaRPr lang="en-US" sz="2200" dirty="0"/>
          </a:p>
        </p:txBody>
      </p:sp>
      <p:sp>
        <p:nvSpPr>
          <p:cNvPr id="6" name="Text 4"/>
          <p:cNvSpPr/>
          <p:nvPr/>
        </p:nvSpPr>
        <p:spPr>
          <a:xfrm>
            <a:off x="1530906" y="4033957"/>
            <a:ext cx="3459242"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The brain of the operation, providing Wi-Fi connectivity.</a:t>
            </a:r>
            <a:endParaRPr lang="en-US" sz="1750" dirty="0"/>
          </a:p>
        </p:txBody>
      </p:sp>
      <p:sp>
        <p:nvSpPr>
          <p:cNvPr id="7" name="Shape 5"/>
          <p:cNvSpPr/>
          <p:nvPr/>
        </p:nvSpPr>
        <p:spPr>
          <a:xfrm>
            <a:off x="5216962" y="3543538"/>
            <a:ext cx="510302" cy="510302"/>
          </a:xfrm>
          <a:prstGeom prst="roundRect">
            <a:avLst>
              <a:gd name="adj" fmla="val 6667"/>
            </a:avLst>
          </a:prstGeom>
          <a:solidFill>
            <a:srgbClr val="3F4652"/>
          </a:solidFill>
          <a:ln/>
        </p:spPr>
      </p:sp>
      <p:sp>
        <p:nvSpPr>
          <p:cNvPr id="8" name="Text 6"/>
          <p:cNvSpPr/>
          <p:nvPr/>
        </p:nvSpPr>
        <p:spPr>
          <a:xfrm>
            <a:off x="5302032" y="358604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6E5EF"/>
                </a:solidFill>
                <a:latin typeface="Roboto Slab" pitchFamily="34" charset="0"/>
                <a:ea typeface="Roboto Slab" pitchFamily="34" charset="-122"/>
                <a:cs typeface="Roboto Slab" pitchFamily="34" charset="-120"/>
              </a:rPr>
              <a:t>2</a:t>
            </a:r>
            <a:endParaRPr lang="en-US" sz="2650" dirty="0"/>
          </a:p>
        </p:txBody>
      </p:sp>
      <p:sp>
        <p:nvSpPr>
          <p:cNvPr id="9" name="Text 7"/>
          <p:cNvSpPr/>
          <p:nvPr/>
        </p:nvSpPr>
        <p:spPr>
          <a:xfrm>
            <a:off x="5954078" y="35435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5V Relay Module</a:t>
            </a:r>
            <a:endParaRPr lang="en-US" sz="2200" dirty="0"/>
          </a:p>
        </p:txBody>
      </p:sp>
      <p:sp>
        <p:nvSpPr>
          <p:cNvPr id="10" name="Text 8"/>
          <p:cNvSpPr/>
          <p:nvPr/>
        </p:nvSpPr>
        <p:spPr>
          <a:xfrm>
            <a:off x="5954078" y="4033957"/>
            <a:ext cx="3459242"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Acts as a switch to control the AC appliance.</a:t>
            </a:r>
            <a:endParaRPr lang="en-US" sz="1750" dirty="0"/>
          </a:p>
        </p:txBody>
      </p:sp>
      <p:sp>
        <p:nvSpPr>
          <p:cNvPr id="11" name="Shape 9"/>
          <p:cNvSpPr/>
          <p:nvPr/>
        </p:nvSpPr>
        <p:spPr>
          <a:xfrm>
            <a:off x="9640133" y="3543538"/>
            <a:ext cx="510302" cy="510302"/>
          </a:xfrm>
          <a:prstGeom prst="roundRect">
            <a:avLst>
              <a:gd name="adj" fmla="val 6667"/>
            </a:avLst>
          </a:prstGeom>
          <a:solidFill>
            <a:srgbClr val="3F4652"/>
          </a:solidFill>
          <a:ln/>
        </p:spPr>
      </p:sp>
      <p:sp>
        <p:nvSpPr>
          <p:cNvPr id="12" name="Text 10"/>
          <p:cNvSpPr/>
          <p:nvPr/>
        </p:nvSpPr>
        <p:spPr>
          <a:xfrm>
            <a:off x="9725204" y="358604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6E5EF"/>
                </a:solidFill>
                <a:latin typeface="Roboto Slab" pitchFamily="34" charset="0"/>
                <a:ea typeface="Roboto Slab" pitchFamily="34" charset="-122"/>
                <a:cs typeface="Roboto Slab" pitchFamily="34" charset="-120"/>
              </a:rPr>
              <a:t>3</a:t>
            </a:r>
            <a:endParaRPr lang="en-US" sz="2650" dirty="0"/>
          </a:p>
        </p:txBody>
      </p:sp>
      <p:sp>
        <p:nvSpPr>
          <p:cNvPr id="13" name="Text 11"/>
          <p:cNvSpPr/>
          <p:nvPr/>
        </p:nvSpPr>
        <p:spPr>
          <a:xfrm>
            <a:off x="10377249" y="3543538"/>
            <a:ext cx="3459242" cy="708660"/>
          </a:xfrm>
          <a:prstGeom prst="rect">
            <a:avLst/>
          </a:prstGeom>
          <a:noFill/>
          <a:ln/>
        </p:spPr>
        <p:txBody>
          <a:bodyPr wrap="squar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Jumper Wires + Breadboard</a:t>
            </a:r>
            <a:endParaRPr lang="en-US" sz="2200" dirty="0"/>
          </a:p>
        </p:txBody>
      </p:sp>
      <p:sp>
        <p:nvSpPr>
          <p:cNvPr id="14" name="Text 12"/>
          <p:cNvSpPr/>
          <p:nvPr/>
        </p:nvSpPr>
        <p:spPr>
          <a:xfrm>
            <a:off x="10377249" y="4388287"/>
            <a:ext cx="3459242"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Facilitate easy connections and prototyping.</a:t>
            </a:r>
            <a:endParaRPr lang="en-US" sz="1750" dirty="0"/>
          </a:p>
        </p:txBody>
      </p:sp>
      <p:sp>
        <p:nvSpPr>
          <p:cNvPr id="15" name="Shape 13"/>
          <p:cNvSpPr/>
          <p:nvPr/>
        </p:nvSpPr>
        <p:spPr>
          <a:xfrm>
            <a:off x="793790" y="5596057"/>
            <a:ext cx="510302" cy="510302"/>
          </a:xfrm>
          <a:prstGeom prst="roundRect">
            <a:avLst>
              <a:gd name="adj" fmla="val 6667"/>
            </a:avLst>
          </a:prstGeom>
          <a:solidFill>
            <a:srgbClr val="3F4652"/>
          </a:solidFill>
          <a:ln/>
        </p:spPr>
      </p:sp>
      <p:sp>
        <p:nvSpPr>
          <p:cNvPr id="16" name="Text 14"/>
          <p:cNvSpPr/>
          <p:nvPr/>
        </p:nvSpPr>
        <p:spPr>
          <a:xfrm>
            <a:off x="878860" y="5638562"/>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6E5EF"/>
                </a:solidFill>
                <a:latin typeface="Roboto Slab" pitchFamily="34" charset="0"/>
                <a:ea typeface="Roboto Slab" pitchFamily="34" charset="-122"/>
                <a:cs typeface="Roboto Slab" pitchFamily="34" charset="-120"/>
              </a:rPr>
              <a:t>4</a:t>
            </a:r>
            <a:endParaRPr lang="en-US" sz="2650" dirty="0"/>
          </a:p>
        </p:txBody>
      </p:sp>
      <p:sp>
        <p:nvSpPr>
          <p:cNvPr id="17" name="Text 15"/>
          <p:cNvSpPr/>
          <p:nvPr/>
        </p:nvSpPr>
        <p:spPr>
          <a:xfrm>
            <a:off x="1530906" y="55960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AC Bulb</a:t>
            </a:r>
            <a:endParaRPr lang="en-US" sz="2200" dirty="0"/>
          </a:p>
        </p:txBody>
      </p:sp>
      <p:sp>
        <p:nvSpPr>
          <p:cNvPr id="18" name="Text 16"/>
          <p:cNvSpPr/>
          <p:nvPr/>
        </p:nvSpPr>
        <p:spPr>
          <a:xfrm>
            <a:off x="1530906" y="6086475"/>
            <a:ext cx="5670947"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Serves as the demo load, representing a home appliance.</a:t>
            </a:r>
            <a:endParaRPr lang="en-US" sz="1750" dirty="0"/>
          </a:p>
        </p:txBody>
      </p:sp>
      <p:sp>
        <p:nvSpPr>
          <p:cNvPr id="19" name="Shape 17"/>
          <p:cNvSpPr/>
          <p:nvPr/>
        </p:nvSpPr>
        <p:spPr>
          <a:xfrm>
            <a:off x="7428667" y="5596057"/>
            <a:ext cx="510302" cy="510302"/>
          </a:xfrm>
          <a:prstGeom prst="roundRect">
            <a:avLst>
              <a:gd name="adj" fmla="val 6667"/>
            </a:avLst>
          </a:prstGeom>
          <a:solidFill>
            <a:srgbClr val="3F4652"/>
          </a:solidFill>
          <a:ln/>
        </p:spPr>
      </p:sp>
      <p:sp>
        <p:nvSpPr>
          <p:cNvPr id="20" name="Text 18"/>
          <p:cNvSpPr/>
          <p:nvPr/>
        </p:nvSpPr>
        <p:spPr>
          <a:xfrm>
            <a:off x="7513737" y="5638562"/>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6E5EF"/>
                </a:solidFill>
                <a:latin typeface="Roboto Slab" pitchFamily="34" charset="0"/>
                <a:ea typeface="Roboto Slab" pitchFamily="34" charset="-122"/>
                <a:cs typeface="Roboto Slab" pitchFamily="34" charset="-120"/>
              </a:rPr>
              <a:t>5</a:t>
            </a:r>
            <a:endParaRPr lang="en-US" sz="2650" dirty="0"/>
          </a:p>
        </p:txBody>
      </p:sp>
      <p:sp>
        <p:nvSpPr>
          <p:cNvPr id="21" name="Text 19"/>
          <p:cNvSpPr/>
          <p:nvPr/>
        </p:nvSpPr>
        <p:spPr>
          <a:xfrm>
            <a:off x="8165783" y="55960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Arduino IoT Cloud</a:t>
            </a:r>
            <a:endParaRPr lang="en-US" sz="2200" dirty="0"/>
          </a:p>
        </p:txBody>
      </p:sp>
      <p:sp>
        <p:nvSpPr>
          <p:cNvPr id="22" name="Text 20"/>
          <p:cNvSpPr/>
          <p:nvPr/>
        </p:nvSpPr>
        <p:spPr>
          <a:xfrm>
            <a:off x="8165783" y="6086475"/>
            <a:ext cx="5670947"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The platform for remote control and monitoring.</a:t>
            </a:r>
            <a:endParaRPr lang="en-US" sz="1750" dirty="0"/>
          </a:p>
        </p:txBody>
      </p:sp>
      <p:sp>
        <p:nvSpPr>
          <p:cNvPr id="23" name="Rectangle 22">
            <a:extLst>
              <a:ext uri="{FF2B5EF4-FFF2-40B4-BE49-F238E27FC236}">
                <a16:creationId xmlns:a16="http://schemas.microsoft.com/office/drawing/2014/main" id="{A2D21497-ECCE-3AB2-F645-4D659405BA1D}"/>
              </a:ext>
            </a:extLst>
          </p:cNvPr>
          <p:cNvSpPr/>
          <p:nvPr/>
        </p:nvSpPr>
        <p:spPr>
          <a:xfrm>
            <a:off x="12741965" y="7543800"/>
            <a:ext cx="1789044" cy="685800"/>
          </a:xfrm>
          <a:prstGeom prst="rect">
            <a:avLst/>
          </a:prstGeom>
          <a:solidFill>
            <a:srgbClr val="202733"/>
          </a:solidFill>
          <a:ln>
            <a:solidFill>
              <a:srgbClr val="2027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793790" y="3628668"/>
            <a:ext cx="9386411"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Understanding the Circuit Diagram</a:t>
            </a:r>
            <a:endParaRPr lang="en-US" sz="4450" dirty="0"/>
          </a:p>
        </p:txBody>
      </p:sp>
      <p:sp>
        <p:nvSpPr>
          <p:cNvPr id="4" name="Shape 1"/>
          <p:cNvSpPr/>
          <p:nvPr/>
        </p:nvSpPr>
        <p:spPr>
          <a:xfrm>
            <a:off x="793790" y="4677608"/>
            <a:ext cx="4196358" cy="2758559"/>
          </a:xfrm>
          <a:prstGeom prst="roundRect">
            <a:avLst>
              <a:gd name="adj" fmla="val 1233"/>
            </a:avLst>
          </a:prstGeom>
          <a:solidFill>
            <a:srgbClr val="3F4652"/>
          </a:solidFill>
          <a:ln/>
        </p:spPr>
      </p:sp>
      <p:sp>
        <p:nvSpPr>
          <p:cNvPr id="5" name="Text 2"/>
          <p:cNvSpPr/>
          <p:nvPr/>
        </p:nvSpPr>
        <p:spPr>
          <a:xfrm>
            <a:off x="1020604" y="490442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Key Connections</a:t>
            </a:r>
            <a:endParaRPr lang="en-US" sz="2200" dirty="0"/>
          </a:p>
        </p:txBody>
      </p:sp>
      <p:sp>
        <p:nvSpPr>
          <p:cNvPr id="6" name="Text 3"/>
          <p:cNvSpPr/>
          <p:nvPr/>
        </p:nvSpPr>
        <p:spPr>
          <a:xfrm>
            <a:off x="1020604" y="5394841"/>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The NodeMCU's digital pins (D1/D2) connect to the relay module, which in turn controls the AC bulb. Ensure proper connections for optimal performance.</a:t>
            </a:r>
            <a:endParaRPr lang="en-US" sz="1750" dirty="0"/>
          </a:p>
        </p:txBody>
      </p:sp>
      <p:sp>
        <p:nvSpPr>
          <p:cNvPr id="7" name="Shape 4"/>
          <p:cNvSpPr/>
          <p:nvPr/>
        </p:nvSpPr>
        <p:spPr>
          <a:xfrm>
            <a:off x="5216962" y="4677608"/>
            <a:ext cx="4196358" cy="2758559"/>
          </a:xfrm>
          <a:prstGeom prst="roundRect">
            <a:avLst>
              <a:gd name="adj" fmla="val 1233"/>
            </a:avLst>
          </a:prstGeom>
          <a:solidFill>
            <a:srgbClr val="3F4652"/>
          </a:solidFill>
          <a:ln/>
        </p:spPr>
      </p:sp>
      <p:sp>
        <p:nvSpPr>
          <p:cNvPr id="8" name="Text 5"/>
          <p:cNvSpPr/>
          <p:nvPr/>
        </p:nvSpPr>
        <p:spPr>
          <a:xfrm>
            <a:off x="5443776" y="490442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Isolation</a:t>
            </a:r>
            <a:endParaRPr lang="en-US" sz="2200" dirty="0"/>
          </a:p>
        </p:txBody>
      </p:sp>
      <p:sp>
        <p:nvSpPr>
          <p:cNvPr id="9" name="Text 6"/>
          <p:cNvSpPr/>
          <p:nvPr/>
        </p:nvSpPr>
        <p:spPr>
          <a:xfrm>
            <a:off x="5443776" y="5394841"/>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It’s crucial to isolate the AC and DC sides of the circuit for safety. This prevents any potential hazards and ensures the longevity of your components.</a:t>
            </a:r>
            <a:endParaRPr lang="en-US" sz="1750" dirty="0"/>
          </a:p>
        </p:txBody>
      </p:sp>
      <p:sp>
        <p:nvSpPr>
          <p:cNvPr id="10" name="Shape 7"/>
          <p:cNvSpPr/>
          <p:nvPr/>
        </p:nvSpPr>
        <p:spPr>
          <a:xfrm>
            <a:off x="9640133" y="4677608"/>
            <a:ext cx="4196358" cy="2758559"/>
          </a:xfrm>
          <a:prstGeom prst="roundRect">
            <a:avLst>
              <a:gd name="adj" fmla="val 1233"/>
            </a:avLst>
          </a:prstGeom>
          <a:solidFill>
            <a:srgbClr val="3F4652"/>
          </a:solidFill>
          <a:ln/>
        </p:spPr>
      </p:sp>
      <p:sp>
        <p:nvSpPr>
          <p:cNvPr id="11" name="Text 8"/>
          <p:cNvSpPr/>
          <p:nvPr/>
        </p:nvSpPr>
        <p:spPr>
          <a:xfrm>
            <a:off x="9866948" y="4904423"/>
            <a:ext cx="2952869"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Important Safety Note</a:t>
            </a:r>
            <a:endParaRPr lang="en-US" sz="2200" dirty="0"/>
          </a:p>
        </p:txBody>
      </p:sp>
      <p:sp>
        <p:nvSpPr>
          <p:cNvPr id="12" name="Text 9"/>
          <p:cNvSpPr/>
          <p:nvPr/>
        </p:nvSpPr>
        <p:spPr>
          <a:xfrm>
            <a:off x="9866948" y="5394841"/>
            <a:ext cx="3742730" cy="1451610"/>
          </a:xfrm>
          <a:prstGeom prst="rect">
            <a:avLst/>
          </a:prstGeom>
          <a:noFill/>
          <a:ln/>
        </p:spPr>
        <p:txBody>
          <a:bodyPr wrap="square" lIns="0" tIns="0" rIns="0" bIns="0" rtlCol="0" anchor="t"/>
          <a:lstStyle/>
          <a:p>
            <a:pPr marL="0" indent="0" algn="l">
              <a:lnSpc>
                <a:spcPts val="2850"/>
              </a:lnSpc>
              <a:buNone/>
            </a:pPr>
            <a:r>
              <a:rPr lang="en-US" sz="1750" b="1" dirty="0">
                <a:solidFill>
                  <a:srgbClr val="D6E5EF"/>
                </a:solidFill>
                <a:latin typeface="Roboto" pitchFamily="34" charset="0"/>
                <a:ea typeface="Roboto" pitchFamily="34" charset="-122"/>
                <a:cs typeface="Roboto" pitchFamily="34" charset="-120"/>
              </a:rPr>
              <a:t>Warning:</a:t>
            </a:r>
            <a:r>
              <a:rPr lang="en-US" sz="1750" dirty="0">
                <a:solidFill>
                  <a:srgbClr val="D6E5EF"/>
                </a:solidFill>
                <a:latin typeface="Roboto" pitchFamily="34" charset="0"/>
                <a:ea typeface="Roboto" pitchFamily="34" charset="-122"/>
                <a:cs typeface="Roboto" pitchFamily="34" charset="-120"/>
              </a:rPr>
              <a:t> Exercise caution when working with AC power. Ensure all connections are secure and insulated to prevent electrical shock.</a:t>
            </a:r>
            <a:endParaRPr lang="en-US" sz="1750" dirty="0"/>
          </a:p>
        </p:txBody>
      </p:sp>
      <p:pic>
        <p:nvPicPr>
          <p:cNvPr id="14" name="Picture 13">
            <a:extLst>
              <a:ext uri="{FF2B5EF4-FFF2-40B4-BE49-F238E27FC236}">
                <a16:creationId xmlns:a16="http://schemas.microsoft.com/office/drawing/2014/main" id="{73ACD44D-9DC9-3407-1419-5296B466D128}"/>
              </a:ext>
            </a:extLst>
          </p:cNvPr>
          <p:cNvPicPr>
            <a:picLocks noChangeAspect="1"/>
          </p:cNvPicPr>
          <p:nvPr/>
        </p:nvPicPr>
        <p:blipFill>
          <a:blip r:embed="rId3"/>
          <a:stretch>
            <a:fillRect/>
          </a:stretch>
        </p:blipFill>
        <p:spPr>
          <a:xfrm>
            <a:off x="0" y="-149087"/>
            <a:ext cx="14630400" cy="3550942"/>
          </a:xfrm>
          <a:prstGeom prst="rect">
            <a:avLst/>
          </a:prstGeom>
        </p:spPr>
      </p:pic>
      <p:sp>
        <p:nvSpPr>
          <p:cNvPr id="15" name="Rectangle 14">
            <a:extLst>
              <a:ext uri="{FF2B5EF4-FFF2-40B4-BE49-F238E27FC236}">
                <a16:creationId xmlns:a16="http://schemas.microsoft.com/office/drawing/2014/main" id="{31709244-25BF-5058-D4BC-54C43A4D1CB4}"/>
              </a:ext>
            </a:extLst>
          </p:cNvPr>
          <p:cNvSpPr/>
          <p:nvPr/>
        </p:nvSpPr>
        <p:spPr>
          <a:xfrm>
            <a:off x="12741965" y="7543800"/>
            <a:ext cx="1789044" cy="685800"/>
          </a:xfrm>
          <a:prstGeom prst="rect">
            <a:avLst/>
          </a:prstGeom>
          <a:solidFill>
            <a:srgbClr val="202733"/>
          </a:solidFill>
          <a:ln>
            <a:solidFill>
              <a:srgbClr val="2027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78881"/>
          </a:xfrm>
          <a:prstGeom prst="rect">
            <a:avLst/>
          </a:prstGeom>
        </p:spPr>
      </p:pic>
      <p:sp>
        <p:nvSpPr>
          <p:cNvPr id="3" name="Text 0"/>
          <p:cNvSpPr/>
          <p:nvPr/>
        </p:nvSpPr>
        <p:spPr>
          <a:xfrm>
            <a:off x="694015" y="3181707"/>
            <a:ext cx="10581680" cy="619720"/>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Setting Up Arduino IoT Cloud for Your Project</a:t>
            </a:r>
            <a:endParaRPr lang="en-US" sz="3900" dirty="0"/>
          </a:p>
        </p:txBody>
      </p:sp>
      <p:pic>
        <p:nvPicPr>
          <p:cNvPr id="4" name="Image 1" descr="preencoded.png"/>
          <p:cNvPicPr>
            <a:picLocks noChangeAspect="1"/>
          </p:cNvPicPr>
          <p:nvPr/>
        </p:nvPicPr>
        <p:blipFill>
          <a:blip r:embed="rId4"/>
          <a:stretch>
            <a:fillRect/>
          </a:stretch>
        </p:blipFill>
        <p:spPr>
          <a:xfrm>
            <a:off x="694015" y="4133493"/>
            <a:ext cx="495776" cy="495776"/>
          </a:xfrm>
          <a:prstGeom prst="rect">
            <a:avLst/>
          </a:prstGeom>
        </p:spPr>
      </p:pic>
      <p:sp>
        <p:nvSpPr>
          <p:cNvPr id="5" name="Text 1"/>
          <p:cNvSpPr/>
          <p:nvPr/>
        </p:nvSpPr>
        <p:spPr>
          <a:xfrm>
            <a:off x="1388031" y="4098846"/>
            <a:ext cx="2478881" cy="309801"/>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Create a "Thing"</a:t>
            </a:r>
            <a:endParaRPr lang="en-US" sz="1950" dirty="0"/>
          </a:p>
        </p:txBody>
      </p:sp>
      <p:sp>
        <p:nvSpPr>
          <p:cNvPr id="6" name="Text 2"/>
          <p:cNvSpPr/>
          <p:nvPr/>
        </p:nvSpPr>
        <p:spPr>
          <a:xfrm>
            <a:off x="1388031" y="4527590"/>
            <a:ext cx="12548354" cy="317302"/>
          </a:xfrm>
          <a:prstGeom prst="rect">
            <a:avLst/>
          </a:prstGeom>
          <a:noFill/>
          <a:ln/>
        </p:spPr>
        <p:txBody>
          <a:bodyPr wrap="none" lIns="0" tIns="0" rIns="0" bIns="0" rtlCol="0" anchor="t"/>
          <a:lstStyle/>
          <a:p>
            <a:pPr marL="0" indent="0" algn="l">
              <a:lnSpc>
                <a:spcPts val="2450"/>
              </a:lnSpc>
              <a:buNone/>
            </a:pPr>
            <a:r>
              <a:rPr lang="en-US" sz="1550" dirty="0">
                <a:solidFill>
                  <a:srgbClr val="D6E5EF"/>
                </a:solidFill>
                <a:latin typeface="Roboto" pitchFamily="34" charset="0"/>
                <a:ea typeface="Roboto" pitchFamily="34" charset="-122"/>
                <a:cs typeface="Roboto" pitchFamily="34" charset="-120"/>
              </a:rPr>
              <a:t>In the Arduino IoT Cloud, create a new "Thing" to represent your smart home device. This will serve as the digital twin of your physical device.</a:t>
            </a:r>
            <a:endParaRPr lang="en-US" sz="1550" dirty="0"/>
          </a:p>
        </p:txBody>
      </p:sp>
      <p:pic>
        <p:nvPicPr>
          <p:cNvPr id="7" name="Image 2" descr="preencoded.png"/>
          <p:cNvPicPr>
            <a:picLocks noChangeAspect="1"/>
          </p:cNvPicPr>
          <p:nvPr/>
        </p:nvPicPr>
        <p:blipFill>
          <a:blip r:embed="rId5"/>
          <a:stretch>
            <a:fillRect/>
          </a:stretch>
        </p:blipFill>
        <p:spPr>
          <a:xfrm>
            <a:off x="694015" y="5474375"/>
            <a:ext cx="495776" cy="495776"/>
          </a:xfrm>
          <a:prstGeom prst="rect">
            <a:avLst/>
          </a:prstGeom>
        </p:spPr>
      </p:pic>
      <p:sp>
        <p:nvSpPr>
          <p:cNvPr id="8" name="Text 3"/>
          <p:cNvSpPr/>
          <p:nvPr/>
        </p:nvSpPr>
        <p:spPr>
          <a:xfrm>
            <a:off x="1388031" y="5439728"/>
            <a:ext cx="2478881" cy="309801"/>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Add Variables</a:t>
            </a:r>
            <a:endParaRPr lang="en-US" sz="1950" dirty="0"/>
          </a:p>
        </p:txBody>
      </p:sp>
      <p:sp>
        <p:nvSpPr>
          <p:cNvPr id="9" name="Text 4"/>
          <p:cNvSpPr/>
          <p:nvPr/>
        </p:nvSpPr>
        <p:spPr>
          <a:xfrm>
            <a:off x="1388031" y="5868472"/>
            <a:ext cx="12548354" cy="317302"/>
          </a:xfrm>
          <a:prstGeom prst="rect">
            <a:avLst/>
          </a:prstGeom>
          <a:noFill/>
          <a:ln/>
        </p:spPr>
        <p:txBody>
          <a:bodyPr wrap="none" lIns="0" tIns="0" rIns="0" bIns="0" rtlCol="0" anchor="t"/>
          <a:lstStyle/>
          <a:p>
            <a:pPr marL="0" indent="0" algn="l">
              <a:lnSpc>
                <a:spcPts val="2450"/>
              </a:lnSpc>
              <a:buNone/>
            </a:pPr>
            <a:r>
              <a:rPr lang="en-US" sz="1550" dirty="0">
                <a:solidFill>
                  <a:srgbClr val="D6E5EF"/>
                </a:solidFill>
                <a:latin typeface="Roboto" pitchFamily="34" charset="0"/>
                <a:ea typeface="Roboto" pitchFamily="34" charset="-122"/>
                <a:cs typeface="Roboto" pitchFamily="34" charset="-120"/>
              </a:rPr>
              <a:t>Define variables such as </a:t>
            </a:r>
            <a:r>
              <a:rPr lang="en-US" sz="1550" b="1" dirty="0">
                <a:solidFill>
                  <a:srgbClr val="D6E5EF"/>
                </a:solidFill>
                <a:latin typeface="Roboto" pitchFamily="34" charset="0"/>
                <a:ea typeface="Roboto" pitchFamily="34" charset="-122"/>
                <a:cs typeface="Roboto" pitchFamily="34" charset="-120"/>
              </a:rPr>
              <a:t>light1</a:t>
            </a:r>
            <a:r>
              <a:rPr lang="en-US" sz="1550" dirty="0">
                <a:solidFill>
                  <a:srgbClr val="D6E5EF"/>
                </a:solidFill>
                <a:latin typeface="Roboto" pitchFamily="34" charset="0"/>
                <a:ea typeface="Roboto" pitchFamily="34" charset="-122"/>
                <a:cs typeface="Roboto" pitchFamily="34" charset="-120"/>
              </a:rPr>
              <a:t> and </a:t>
            </a:r>
            <a:r>
              <a:rPr lang="en-US" sz="1550" b="1" dirty="0">
                <a:solidFill>
                  <a:srgbClr val="D6E5EF"/>
                </a:solidFill>
                <a:latin typeface="Roboto" pitchFamily="34" charset="0"/>
                <a:ea typeface="Roboto" pitchFamily="34" charset="-122"/>
                <a:cs typeface="Roboto" pitchFamily="34" charset="-120"/>
              </a:rPr>
              <a:t>light2</a:t>
            </a:r>
            <a:r>
              <a:rPr lang="en-US" sz="1550" dirty="0">
                <a:solidFill>
                  <a:srgbClr val="D6E5EF"/>
                </a:solidFill>
                <a:latin typeface="Roboto" pitchFamily="34" charset="0"/>
                <a:ea typeface="Roboto" pitchFamily="34" charset="-122"/>
                <a:cs typeface="Roboto" pitchFamily="34" charset="-120"/>
              </a:rPr>
              <a:t> to control the state of your appliances. These variables will be linked to your NodeMCU's code.</a:t>
            </a:r>
            <a:endParaRPr lang="en-US" sz="1550" dirty="0"/>
          </a:p>
        </p:txBody>
      </p:sp>
      <p:pic>
        <p:nvPicPr>
          <p:cNvPr id="10" name="Image 3" descr="preencoded.png"/>
          <p:cNvPicPr>
            <a:picLocks noChangeAspect="1"/>
          </p:cNvPicPr>
          <p:nvPr/>
        </p:nvPicPr>
        <p:blipFill>
          <a:blip r:embed="rId6"/>
          <a:stretch>
            <a:fillRect/>
          </a:stretch>
        </p:blipFill>
        <p:spPr>
          <a:xfrm>
            <a:off x="694015" y="6815257"/>
            <a:ext cx="495776" cy="495776"/>
          </a:xfrm>
          <a:prstGeom prst="rect">
            <a:avLst/>
          </a:prstGeom>
        </p:spPr>
      </p:pic>
      <p:sp>
        <p:nvSpPr>
          <p:cNvPr id="11" name="Text 5"/>
          <p:cNvSpPr/>
          <p:nvPr/>
        </p:nvSpPr>
        <p:spPr>
          <a:xfrm>
            <a:off x="1388031" y="6780609"/>
            <a:ext cx="2478881" cy="309801"/>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Upload Code</a:t>
            </a:r>
            <a:endParaRPr lang="en-US" sz="1950" dirty="0"/>
          </a:p>
        </p:txBody>
      </p:sp>
      <p:sp>
        <p:nvSpPr>
          <p:cNvPr id="12" name="Text 6"/>
          <p:cNvSpPr/>
          <p:nvPr/>
        </p:nvSpPr>
        <p:spPr>
          <a:xfrm>
            <a:off x="1388031" y="7209353"/>
            <a:ext cx="12548354" cy="317302"/>
          </a:xfrm>
          <a:prstGeom prst="rect">
            <a:avLst/>
          </a:prstGeom>
          <a:noFill/>
          <a:ln/>
        </p:spPr>
        <p:txBody>
          <a:bodyPr wrap="none" lIns="0" tIns="0" rIns="0" bIns="0" rtlCol="0" anchor="t"/>
          <a:lstStyle/>
          <a:p>
            <a:pPr marL="0" indent="0" algn="l">
              <a:lnSpc>
                <a:spcPts val="2450"/>
              </a:lnSpc>
              <a:buNone/>
            </a:pPr>
            <a:r>
              <a:rPr lang="en-US" sz="1550" dirty="0">
                <a:solidFill>
                  <a:srgbClr val="D6E5EF"/>
                </a:solidFill>
                <a:latin typeface="Roboto" pitchFamily="34" charset="0"/>
                <a:ea typeface="Roboto" pitchFamily="34" charset="-122"/>
                <a:cs typeface="Roboto" pitchFamily="34" charset="-120"/>
              </a:rPr>
              <a:t>Upload the auto-generated code to your NodeMCU. This code will handle the communication between your device and the Arduino IoT Cloud.</a:t>
            </a:r>
            <a:endParaRPr lang="en-US" sz="1550" dirty="0"/>
          </a:p>
        </p:txBody>
      </p:sp>
      <p:sp>
        <p:nvSpPr>
          <p:cNvPr id="13" name="Rectangle 12">
            <a:extLst>
              <a:ext uri="{FF2B5EF4-FFF2-40B4-BE49-F238E27FC236}">
                <a16:creationId xmlns:a16="http://schemas.microsoft.com/office/drawing/2014/main" id="{44BB2A02-8F61-763A-FF49-F68583EE8520}"/>
              </a:ext>
            </a:extLst>
          </p:cNvPr>
          <p:cNvSpPr/>
          <p:nvPr/>
        </p:nvSpPr>
        <p:spPr>
          <a:xfrm>
            <a:off x="12741965" y="7543800"/>
            <a:ext cx="1789044" cy="685800"/>
          </a:xfrm>
          <a:prstGeom prst="rect">
            <a:avLst/>
          </a:prstGeom>
          <a:solidFill>
            <a:srgbClr val="202733"/>
          </a:solidFill>
          <a:ln>
            <a:solidFill>
              <a:srgbClr val="2027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53415" y="953214"/>
            <a:ext cx="7554039" cy="583406"/>
          </a:xfrm>
          <a:prstGeom prst="rect">
            <a:avLst/>
          </a:prstGeom>
          <a:noFill/>
          <a:ln/>
        </p:spPr>
        <p:txBody>
          <a:bodyPr wrap="none" lIns="0" tIns="0" rIns="0" bIns="0" rtlCol="0" anchor="t"/>
          <a:lstStyle/>
          <a:p>
            <a:pPr marL="0" indent="0" algn="l">
              <a:lnSpc>
                <a:spcPts val="4550"/>
              </a:lnSpc>
              <a:buNone/>
            </a:pPr>
            <a:r>
              <a:rPr lang="en-US" sz="3650" dirty="0">
                <a:solidFill>
                  <a:srgbClr val="76B9FF"/>
                </a:solidFill>
                <a:latin typeface="Roboto Slab" pitchFamily="34" charset="0"/>
                <a:ea typeface="Roboto Slab" pitchFamily="34" charset="-122"/>
                <a:cs typeface="Roboto Slab" pitchFamily="34" charset="-120"/>
              </a:rPr>
              <a:t>How It Works: The Flow of Control</a:t>
            </a:r>
            <a:endParaRPr lang="en-US" sz="3650" dirty="0"/>
          </a:p>
        </p:txBody>
      </p:sp>
      <p:sp>
        <p:nvSpPr>
          <p:cNvPr id="4" name="Shape 1"/>
          <p:cNvSpPr/>
          <p:nvPr/>
        </p:nvSpPr>
        <p:spPr>
          <a:xfrm>
            <a:off x="863441" y="1816656"/>
            <a:ext cx="22860" cy="5459730"/>
          </a:xfrm>
          <a:prstGeom prst="roundRect">
            <a:avLst>
              <a:gd name="adj" fmla="val 122510"/>
            </a:avLst>
          </a:prstGeom>
          <a:solidFill>
            <a:srgbClr val="585F6B"/>
          </a:solidFill>
          <a:ln/>
        </p:spPr>
      </p:sp>
      <p:sp>
        <p:nvSpPr>
          <p:cNvPr id="5" name="Shape 2"/>
          <p:cNvSpPr/>
          <p:nvPr/>
        </p:nvSpPr>
        <p:spPr>
          <a:xfrm>
            <a:off x="1050608" y="2225278"/>
            <a:ext cx="560070" cy="22860"/>
          </a:xfrm>
          <a:prstGeom prst="roundRect">
            <a:avLst>
              <a:gd name="adj" fmla="val 122510"/>
            </a:avLst>
          </a:prstGeom>
          <a:solidFill>
            <a:srgbClr val="585F6B"/>
          </a:solidFill>
          <a:ln/>
        </p:spPr>
      </p:sp>
      <p:sp>
        <p:nvSpPr>
          <p:cNvPr id="6" name="Shape 3"/>
          <p:cNvSpPr/>
          <p:nvPr/>
        </p:nvSpPr>
        <p:spPr>
          <a:xfrm>
            <a:off x="653415" y="2026682"/>
            <a:ext cx="420053" cy="420053"/>
          </a:xfrm>
          <a:prstGeom prst="roundRect">
            <a:avLst>
              <a:gd name="adj" fmla="val 6667"/>
            </a:avLst>
          </a:prstGeom>
          <a:solidFill>
            <a:srgbClr val="3F4652"/>
          </a:solidFill>
          <a:ln/>
        </p:spPr>
      </p:sp>
      <p:sp>
        <p:nvSpPr>
          <p:cNvPr id="7" name="Text 4"/>
          <p:cNvSpPr/>
          <p:nvPr/>
        </p:nvSpPr>
        <p:spPr>
          <a:xfrm>
            <a:off x="723424" y="2061686"/>
            <a:ext cx="280035" cy="350044"/>
          </a:xfrm>
          <a:prstGeom prst="rect">
            <a:avLst/>
          </a:prstGeom>
          <a:noFill/>
          <a:ln/>
        </p:spPr>
        <p:txBody>
          <a:bodyPr wrap="none" lIns="0" tIns="0" rIns="0" bIns="0" rtlCol="0" anchor="t"/>
          <a:lstStyle/>
          <a:p>
            <a:pPr marL="0" indent="0" algn="ctr">
              <a:lnSpc>
                <a:spcPts val="2200"/>
              </a:lnSpc>
              <a:buNone/>
            </a:pPr>
            <a:r>
              <a:rPr lang="en-US" sz="2200" dirty="0">
                <a:solidFill>
                  <a:srgbClr val="D6E5EF"/>
                </a:solidFill>
                <a:latin typeface="Roboto Slab" pitchFamily="34" charset="0"/>
                <a:ea typeface="Roboto Slab" pitchFamily="34" charset="-122"/>
                <a:cs typeface="Roboto Slab" pitchFamily="34" charset="-120"/>
              </a:rPr>
              <a:t>1</a:t>
            </a:r>
            <a:endParaRPr lang="en-US" sz="2200" dirty="0"/>
          </a:p>
        </p:txBody>
      </p:sp>
      <p:sp>
        <p:nvSpPr>
          <p:cNvPr id="8" name="Text 5"/>
          <p:cNvSpPr/>
          <p:nvPr/>
        </p:nvSpPr>
        <p:spPr>
          <a:xfrm>
            <a:off x="1796891" y="2003346"/>
            <a:ext cx="2333744" cy="291703"/>
          </a:xfrm>
          <a:prstGeom prst="rect">
            <a:avLst/>
          </a:prstGeom>
          <a:noFill/>
          <a:ln/>
        </p:spPr>
        <p:txBody>
          <a:bodyPr wrap="none" lIns="0" tIns="0" rIns="0" bIns="0" rtlCol="0" anchor="t"/>
          <a:lstStyle/>
          <a:p>
            <a:pPr marL="0" indent="0" algn="l">
              <a:lnSpc>
                <a:spcPts val="2250"/>
              </a:lnSpc>
              <a:buNone/>
            </a:pPr>
            <a:r>
              <a:rPr lang="en-US" sz="1800" dirty="0">
                <a:solidFill>
                  <a:srgbClr val="D6E5EF"/>
                </a:solidFill>
                <a:latin typeface="Roboto Slab" pitchFamily="34" charset="0"/>
                <a:ea typeface="Roboto Slab" pitchFamily="34" charset="-122"/>
                <a:cs typeface="Roboto Slab" pitchFamily="34" charset="-120"/>
              </a:rPr>
              <a:t>User</a:t>
            </a:r>
            <a:endParaRPr lang="en-US" sz="1800" dirty="0"/>
          </a:p>
        </p:txBody>
      </p:sp>
      <p:sp>
        <p:nvSpPr>
          <p:cNvPr id="9" name="Text 6"/>
          <p:cNvSpPr/>
          <p:nvPr/>
        </p:nvSpPr>
        <p:spPr>
          <a:xfrm>
            <a:off x="1796891" y="2406968"/>
            <a:ext cx="6693694" cy="597218"/>
          </a:xfrm>
          <a:prstGeom prst="rect">
            <a:avLst/>
          </a:prstGeom>
          <a:noFill/>
          <a:ln/>
        </p:spPr>
        <p:txBody>
          <a:bodyPr wrap="square" lIns="0" tIns="0" rIns="0" bIns="0" rtlCol="0" anchor="t"/>
          <a:lstStyle/>
          <a:p>
            <a:pPr marL="0" indent="0" algn="l">
              <a:lnSpc>
                <a:spcPts val="2350"/>
              </a:lnSpc>
              <a:buNone/>
            </a:pPr>
            <a:r>
              <a:rPr lang="en-US" sz="1450" dirty="0">
                <a:solidFill>
                  <a:srgbClr val="D6E5EF"/>
                </a:solidFill>
                <a:latin typeface="Roboto" pitchFamily="34" charset="0"/>
                <a:ea typeface="Roboto" pitchFamily="34" charset="-122"/>
                <a:cs typeface="Roboto" pitchFamily="34" charset="-120"/>
              </a:rPr>
              <a:t>The user interacts with the Arduino IoT Cloud dashboard to control the appliance.</a:t>
            </a:r>
            <a:endParaRPr lang="en-US" sz="1450" dirty="0"/>
          </a:p>
        </p:txBody>
      </p:sp>
      <p:sp>
        <p:nvSpPr>
          <p:cNvPr id="10" name="Shape 7"/>
          <p:cNvSpPr/>
          <p:nvPr/>
        </p:nvSpPr>
        <p:spPr>
          <a:xfrm>
            <a:off x="1050608" y="3786188"/>
            <a:ext cx="560070" cy="22860"/>
          </a:xfrm>
          <a:prstGeom prst="roundRect">
            <a:avLst>
              <a:gd name="adj" fmla="val 122510"/>
            </a:avLst>
          </a:prstGeom>
          <a:solidFill>
            <a:srgbClr val="585F6B"/>
          </a:solidFill>
          <a:ln/>
        </p:spPr>
      </p:sp>
      <p:sp>
        <p:nvSpPr>
          <p:cNvPr id="11" name="Shape 8"/>
          <p:cNvSpPr/>
          <p:nvPr/>
        </p:nvSpPr>
        <p:spPr>
          <a:xfrm>
            <a:off x="653415" y="3587591"/>
            <a:ext cx="420053" cy="420053"/>
          </a:xfrm>
          <a:prstGeom prst="roundRect">
            <a:avLst>
              <a:gd name="adj" fmla="val 6667"/>
            </a:avLst>
          </a:prstGeom>
          <a:solidFill>
            <a:srgbClr val="3F4652"/>
          </a:solidFill>
          <a:ln/>
        </p:spPr>
      </p:sp>
      <p:sp>
        <p:nvSpPr>
          <p:cNvPr id="12" name="Text 9"/>
          <p:cNvSpPr/>
          <p:nvPr/>
        </p:nvSpPr>
        <p:spPr>
          <a:xfrm>
            <a:off x="723424" y="3622596"/>
            <a:ext cx="280035" cy="350044"/>
          </a:xfrm>
          <a:prstGeom prst="rect">
            <a:avLst/>
          </a:prstGeom>
          <a:noFill/>
          <a:ln/>
        </p:spPr>
        <p:txBody>
          <a:bodyPr wrap="none" lIns="0" tIns="0" rIns="0" bIns="0" rtlCol="0" anchor="t"/>
          <a:lstStyle/>
          <a:p>
            <a:pPr marL="0" indent="0" algn="ctr">
              <a:lnSpc>
                <a:spcPts val="2200"/>
              </a:lnSpc>
              <a:buNone/>
            </a:pPr>
            <a:r>
              <a:rPr lang="en-US" sz="2200" dirty="0">
                <a:solidFill>
                  <a:srgbClr val="D6E5EF"/>
                </a:solidFill>
                <a:latin typeface="Roboto Slab" pitchFamily="34" charset="0"/>
                <a:ea typeface="Roboto Slab" pitchFamily="34" charset="-122"/>
                <a:cs typeface="Roboto Slab" pitchFamily="34" charset="-120"/>
              </a:rPr>
              <a:t>2</a:t>
            </a:r>
            <a:endParaRPr lang="en-US" sz="2200" dirty="0"/>
          </a:p>
        </p:txBody>
      </p:sp>
      <p:sp>
        <p:nvSpPr>
          <p:cNvPr id="13" name="Text 10"/>
          <p:cNvSpPr/>
          <p:nvPr/>
        </p:nvSpPr>
        <p:spPr>
          <a:xfrm>
            <a:off x="1796891" y="3564255"/>
            <a:ext cx="2333744" cy="291703"/>
          </a:xfrm>
          <a:prstGeom prst="rect">
            <a:avLst/>
          </a:prstGeom>
          <a:noFill/>
          <a:ln/>
        </p:spPr>
        <p:txBody>
          <a:bodyPr wrap="none" lIns="0" tIns="0" rIns="0" bIns="0" rtlCol="0" anchor="t"/>
          <a:lstStyle/>
          <a:p>
            <a:pPr marL="0" indent="0" algn="l">
              <a:lnSpc>
                <a:spcPts val="2250"/>
              </a:lnSpc>
              <a:buNone/>
            </a:pPr>
            <a:r>
              <a:rPr lang="en-US" sz="1800" dirty="0">
                <a:solidFill>
                  <a:srgbClr val="D6E5EF"/>
                </a:solidFill>
                <a:latin typeface="Roboto Slab" pitchFamily="34" charset="0"/>
                <a:ea typeface="Roboto Slab" pitchFamily="34" charset="-122"/>
                <a:cs typeface="Roboto Slab" pitchFamily="34" charset="-120"/>
              </a:rPr>
              <a:t>Arduino Cloud</a:t>
            </a:r>
            <a:endParaRPr lang="en-US" sz="1800" dirty="0"/>
          </a:p>
        </p:txBody>
      </p:sp>
      <p:sp>
        <p:nvSpPr>
          <p:cNvPr id="14" name="Text 11"/>
          <p:cNvSpPr/>
          <p:nvPr/>
        </p:nvSpPr>
        <p:spPr>
          <a:xfrm>
            <a:off x="1796891" y="3967877"/>
            <a:ext cx="6693694" cy="597218"/>
          </a:xfrm>
          <a:prstGeom prst="rect">
            <a:avLst/>
          </a:prstGeom>
          <a:noFill/>
          <a:ln/>
        </p:spPr>
        <p:txBody>
          <a:bodyPr wrap="square" lIns="0" tIns="0" rIns="0" bIns="0" rtlCol="0" anchor="t"/>
          <a:lstStyle/>
          <a:p>
            <a:pPr marL="0" indent="0" algn="l">
              <a:lnSpc>
                <a:spcPts val="2350"/>
              </a:lnSpc>
              <a:buNone/>
            </a:pPr>
            <a:r>
              <a:rPr lang="en-US" sz="1450" dirty="0">
                <a:solidFill>
                  <a:srgbClr val="D6E5EF"/>
                </a:solidFill>
                <a:latin typeface="Roboto" pitchFamily="34" charset="0"/>
                <a:ea typeface="Roboto" pitchFamily="34" charset="-122"/>
                <a:cs typeface="Roboto" pitchFamily="34" charset="-120"/>
              </a:rPr>
              <a:t>The Arduino IoT Cloud receives the user's command and forwards it to the NodeMCU.</a:t>
            </a:r>
            <a:endParaRPr lang="en-US" sz="1450" dirty="0"/>
          </a:p>
        </p:txBody>
      </p:sp>
      <p:sp>
        <p:nvSpPr>
          <p:cNvPr id="15" name="Shape 12"/>
          <p:cNvSpPr/>
          <p:nvPr/>
        </p:nvSpPr>
        <p:spPr>
          <a:xfrm>
            <a:off x="1050608" y="5347097"/>
            <a:ext cx="560070" cy="22860"/>
          </a:xfrm>
          <a:prstGeom prst="roundRect">
            <a:avLst>
              <a:gd name="adj" fmla="val 122510"/>
            </a:avLst>
          </a:prstGeom>
          <a:solidFill>
            <a:srgbClr val="585F6B"/>
          </a:solidFill>
          <a:ln/>
        </p:spPr>
      </p:sp>
      <p:sp>
        <p:nvSpPr>
          <p:cNvPr id="16" name="Shape 13"/>
          <p:cNvSpPr/>
          <p:nvPr/>
        </p:nvSpPr>
        <p:spPr>
          <a:xfrm>
            <a:off x="653415" y="5148501"/>
            <a:ext cx="420053" cy="420053"/>
          </a:xfrm>
          <a:prstGeom prst="roundRect">
            <a:avLst>
              <a:gd name="adj" fmla="val 6667"/>
            </a:avLst>
          </a:prstGeom>
          <a:solidFill>
            <a:srgbClr val="3F4652"/>
          </a:solidFill>
          <a:ln/>
        </p:spPr>
      </p:sp>
      <p:sp>
        <p:nvSpPr>
          <p:cNvPr id="17" name="Text 14"/>
          <p:cNvSpPr/>
          <p:nvPr/>
        </p:nvSpPr>
        <p:spPr>
          <a:xfrm>
            <a:off x="723424" y="5183505"/>
            <a:ext cx="280035" cy="350044"/>
          </a:xfrm>
          <a:prstGeom prst="rect">
            <a:avLst/>
          </a:prstGeom>
          <a:noFill/>
          <a:ln/>
        </p:spPr>
        <p:txBody>
          <a:bodyPr wrap="none" lIns="0" tIns="0" rIns="0" bIns="0" rtlCol="0" anchor="t"/>
          <a:lstStyle/>
          <a:p>
            <a:pPr marL="0" indent="0" algn="ctr">
              <a:lnSpc>
                <a:spcPts val="2200"/>
              </a:lnSpc>
              <a:buNone/>
            </a:pPr>
            <a:r>
              <a:rPr lang="en-US" sz="2200" dirty="0">
                <a:solidFill>
                  <a:srgbClr val="D6E5EF"/>
                </a:solidFill>
                <a:latin typeface="Roboto Slab" pitchFamily="34" charset="0"/>
                <a:ea typeface="Roboto Slab" pitchFamily="34" charset="-122"/>
                <a:cs typeface="Roboto Slab" pitchFamily="34" charset="-120"/>
              </a:rPr>
              <a:t>3</a:t>
            </a:r>
            <a:endParaRPr lang="en-US" sz="2200" dirty="0"/>
          </a:p>
        </p:txBody>
      </p:sp>
      <p:sp>
        <p:nvSpPr>
          <p:cNvPr id="18" name="Text 15"/>
          <p:cNvSpPr/>
          <p:nvPr/>
        </p:nvSpPr>
        <p:spPr>
          <a:xfrm>
            <a:off x="1796891" y="5125164"/>
            <a:ext cx="2333744" cy="291703"/>
          </a:xfrm>
          <a:prstGeom prst="rect">
            <a:avLst/>
          </a:prstGeom>
          <a:noFill/>
          <a:ln/>
        </p:spPr>
        <p:txBody>
          <a:bodyPr wrap="none" lIns="0" tIns="0" rIns="0" bIns="0" rtlCol="0" anchor="t"/>
          <a:lstStyle/>
          <a:p>
            <a:pPr marL="0" indent="0" algn="l">
              <a:lnSpc>
                <a:spcPts val="2250"/>
              </a:lnSpc>
              <a:buNone/>
            </a:pPr>
            <a:r>
              <a:rPr lang="en-US" sz="1800" dirty="0">
                <a:solidFill>
                  <a:srgbClr val="D6E5EF"/>
                </a:solidFill>
                <a:latin typeface="Roboto Slab" pitchFamily="34" charset="0"/>
                <a:ea typeface="Roboto Slab" pitchFamily="34" charset="-122"/>
                <a:cs typeface="Roboto Slab" pitchFamily="34" charset="-120"/>
              </a:rPr>
              <a:t>NodeMCU</a:t>
            </a:r>
            <a:endParaRPr lang="en-US" sz="1800" dirty="0"/>
          </a:p>
        </p:txBody>
      </p:sp>
      <p:sp>
        <p:nvSpPr>
          <p:cNvPr id="19" name="Text 16"/>
          <p:cNvSpPr/>
          <p:nvPr/>
        </p:nvSpPr>
        <p:spPr>
          <a:xfrm>
            <a:off x="1796891" y="5528786"/>
            <a:ext cx="6693694" cy="298609"/>
          </a:xfrm>
          <a:prstGeom prst="rect">
            <a:avLst/>
          </a:prstGeom>
          <a:noFill/>
          <a:ln/>
        </p:spPr>
        <p:txBody>
          <a:bodyPr wrap="none" lIns="0" tIns="0" rIns="0" bIns="0" rtlCol="0" anchor="t"/>
          <a:lstStyle/>
          <a:p>
            <a:pPr marL="0" indent="0" algn="l">
              <a:lnSpc>
                <a:spcPts val="2350"/>
              </a:lnSpc>
              <a:buNone/>
            </a:pPr>
            <a:r>
              <a:rPr lang="en-US" sz="1450" dirty="0">
                <a:solidFill>
                  <a:srgbClr val="D6E5EF"/>
                </a:solidFill>
                <a:latin typeface="Roboto" pitchFamily="34" charset="0"/>
                <a:ea typeface="Roboto" pitchFamily="34" charset="-122"/>
                <a:cs typeface="Roboto" pitchFamily="34" charset="-120"/>
              </a:rPr>
              <a:t>The NodeMCU interprets the command and activates the relay module.</a:t>
            </a:r>
            <a:endParaRPr lang="en-US" sz="1450" dirty="0"/>
          </a:p>
        </p:txBody>
      </p:sp>
      <p:sp>
        <p:nvSpPr>
          <p:cNvPr id="20" name="Shape 17"/>
          <p:cNvSpPr/>
          <p:nvPr/>
        </p:nvSpPr>
        <p:spPr>
          <a:xfrm>
            <a:off x="1050608" y="6609398"/>
            <a:ext cx="560070" cy="22860"/>
          </a:xfrm>
          <a:prstGeom prst="roundRect">
            <a:avLst>
              <a:gd name="adj" fmla="val 122510"/>
            </a:avLst>
          </a:prstGeom>
          <a:solidFill>
            <a:srgbClr val="585F6B"/>
          </a:solidFill>
          <a:ln/>
        </p:spPr>
      </p:sp>
      <p:sp>
        <p:nvSpPr>
          <p:cNvPr id="21" name="Shape 18"/>
          <p:cNvSpPr/>
          <p:nvPr/>
        </p:nvSpPr>
        <p:spPr>
          <a:xfrm>
            <a:off x="653415" y="6410801"/>
            <a:ext cx="420053" cy="420053"/>
          </a:xfrm>
          <a:prstGeom prst="roundRect">
            <a:avLst>
              <a:gd name="adj" fmla="val 6667"/>
            </a:avLst>
          </a:prstGeom>
          <a:solidFill>
            <a:srgbClr val="3F4652"/>
          </a:solidFill>
          <a:ln/>
        </p:spPr>
      </p:sp>
      <p:sp>
        <p:nvSpPr>
          <p:cNvPr id="22" name="Text 19"/>
          <p:cNvSpPr/>
          <p:nvPr/>
        </p:nvSpPr>
        <p:spPr>
          <a:xfrm>
            <a:off x="723424" y="6445806"/>
            <a:ext cx="280035" cy="350044"/>
          </a:xfrm>
          <a:prstGeom prst="rect">
            <a:avLst/>
          </a:prstGeom>
          <a:noFill/>
          <a:ln/>
        </p:spPr>
        <p:txBody>
          <a:bodyPr wrap="none" lIns="0" tIns="0" rIns="0" bIns="0" rtlCol="0" anchor="t"/>
          <a:lstStyle/>
          <a:p>
            <a:pPr marL="0" indent="0" algn="ctr">
              <a:lnSpc>
                <a:spcPts val="2200"/>
              </a:lnSpc>
              <a:buNone/>
            </a:pPr>
            <a:r>
              <a:rPr lang="en-US" sz="2200" dirty="0">
                <a:solidFill>
                  <a:srgbClr val="D6E5EF"/>
                </a:solidFill>
                <a:latin typeface="Roboto Slab" pitchFamily="34" charset="0"/>
                <a:ea typeface="Roboto Slab" pitchFamily="34" charset="-122"/>
                <a:cs typeface="Roboto Slab" pitchFamily="34" charset="-120"/>
              </a:rPr>
              <a:t>4</a:t>
            </a:r>
            <a:endParaRPr lang="en-US" sz="2200" dirty="0"/>
          </a:p>
        </p:txBody>
      </p:sp>
      <p:sp>
        <p:nvSpPr>
          <p:cNvPr id="23" name="Text 20"/>
          <p:cNvSpPr/>
          <p:nvPr/>
        </p:nvSpPr>
        <p:spPr>
          <a:xfrm>
            <a:off x="1796891" y="6387465"/>
            <a:ext cx="2333744" cy="291703"/>
          </a:xfrm>
          <a:prstGeom prst="rect">
            <a:avLst/>
          </a:prstGeom>
          <a:noFill/>
          <a:ln/>
        </p:spPr>
        <p:txBody>
          <a:bodyPr wrap="none" lIns="0" tIns="0" rIns="0" bIns="0" rtlCol="0" anchor="t"/>
          <a:lstStyle/>
          <a:p>
            <a:pPr marL="0" indent="0" algn="l">
              <a:lnSpc>
                <a:spcPts val="2250"/>
              </a:lnSpc>
              <a:buNone/>
            </a:pPr>
            <a:r>
              <a:rPr lang="en-US" sz="1800" dirty="0">
                <a:solidFill>
                  <a:srgbClr val="D6E5EF"/>
                </a:solidFill>
                <a:latin typeface="Roboto Slab" pitchFamily="34" charset="0"/>
                <a:ea typeface="Roboto Slab" pitchFamily="34" charset="-122"/>
                <a:cs typeface="Roboto Slab" pitchFamily="34" charset="-120"/>
              </a:rPr>
              <a:t>Relay</a:t>
            </a:r>
            <a:endParaRPr lang="en-US" sz="1800" dirty="0"/>
          </a:p>
        </p:txBody>
      </p:sp>
      <p:sp>
        <p:nvSpPr>
          <p:cNvPr id="24" name="Text 21"/>
          <p:cNvSpPr/>
          <p:nvPr/>
        </p:nvSpPr>
        <p:spPr>
          <a:xfrm>
            <a:off x="1796891" y="6791087"/>
            <a:ext cx="6693694" cy="298609"/>
          </a:xfrm>
          <a:prstGeom prst="rect">
            <a:avLst/>
          </a:prstGeom>
          <a:noFill/>
          <a:ln/>
        </p:spPr>
        <p:txBody>
          <a:bodyPr wrap="none" lIns="0" tIns="0" rIns="0" bIns="0" rtlCol="0" anchor="t"/>
          <a:lstStyle/>
          <a:p>
            <a:pPr marL="0" indent="0" algn="l">
              <a:lnSpc>
                <a:spcPts val="2350"/>
              </a:lnSpc>
              <a:buNone/>
            </a:pPr>
            <a:r>
              <a:rPr lang="en-US" sz="1450" dirty="0">
                <a:solidFill>
                  <a:srgbClr val="D6E5EF"/>
                </a:solidFill>
                <a:latin typeface="Roboto" pitchFamily="34" charset="0"/>
                <a:ea typeface="Roboto" pitchFamily="34" charset="-122"/>
                <a:cs typeface="Roboto" pitchFamily="34" charset="-120"/>
              </a:rPr>
              <a:t>The relay switches the appliance ON or OFF based on the received command.</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703302" y="592812"/>
            <a:ext cx="7737396" cy="1255633"/>
          </a:xfrm>
          <a:prstGeom prst="rect">
            <a:avLst/>
          </a:prstGeom>
          <a:noFill/>
          <a:ln/>
        </p:spPr>
        <p:txBody>
          <a:bodyPr wrap="square" lIns="0" tIns="0" rIns="0" bIns="0" rtlCol="0" anchor="t"/>
          <a:lstStyle/>
          <a:p>
            <a:pPr marL="0" indent="0" algn="l">
              <a:lnSpc>
                <a:spcPts val="4900"/>
              </a:lnSpc>
              <a:buNone/>
            </a:pPr>
            <a:r>
              <a:rPr lang="en-US" sz="3950" dirty="0">
                <a:solidFill>
                  <a:srgbClr val="76B9FF"/>
                </a:solidFill>
                <a:latin typeface="Roboto Slab" pitchFamily="34" charset="0"/>
                <a:ea typeface="Roboto Slab" pitchFamily="34" charset="-122"/>
                <a:cs typeface="Roboto Slab" pitchFamily="34" charset="-120"/>
              </a:rPr>
              <a:t>Code Deep Dive: Relay Control Logic</a:t>
            </a:r>
            <a:endParaRPr lang="en-US" sz="3950" dirty="0"/>
          </a:p>
        </p:txBody>
      </p:sp>
      <p:pic>
        <p:nvPicPr>
          <p:cNvPr id="4" name="Image 1" descr="preencoded.png"/>
          <p:cNvPicPr>
            <a:picLocks noChangeAspect="1"/>
          </p:cNvPicPr>
          <p:nvPr/>
        </p:nvPicPr>
        <p:blipFill>
          <a:blip r:embed="rId3"/>
          <a:stretch>
            <a:fillRect/>
          </a:stretch>
        </p:blipFill>
        <p:spPr>
          <a:xfrm>
            <a:off x="703302" y="2149793"/>
            <a:ext cx="1004649" cy="1479113"/>
          </a:xfrm>
          <a:prstGeom prst="rect">
            <a:avLst/>
          </a:prstGeom>
        </p:spPr>
      </p:pic>
      <p:sp>
        <p:nvSpPr>
          <p:cNvPr id="5" name="Text 1"/>
          <p:cNvSpPr/>
          <p:nvPr/>
        </p:nvSpPr>
        <p:spPr>
          <a:xfrm>
            <a:off x="2009299" y="2350651"/>
            <a:ext cx="2511743" cy="313968"/>
          </a:xfrm>
          <a:prstGeom prst="rect">
            <a:avLst/>
          </a:prstGeom>
          <a:noFill/>
          <a:ln/>
        </p:spPr>
        <p:txBody>
          <a:bodyPr wrap="none" lIns="0" tIns="0" rIns="0" bIns="0" rtlCol="0" anchor="t"/>
          <a:lstStyle/>
          <a:p>
            <a:pPr marL="0" indent="0" algn="l">
              <a:lnSpc>
                <a:spcPts val="2450"/>
              </a:lnSpc>
              <a:buNone/>
            </a:pPr>
            <a:r>
              <a:rPr lang="en-US" sz="1950" dirty="0">
                <a:solidFill>
                  <a:srgbClr val="D6E5EF"/>
                </a:solidFill>
                <a:latin typeface="Roboto Slab" pitchFamily="34" charset="0"/>
                <a:ea typeface="Roboto Slab" pitchFamily="34" charset="-122"/>
                <a:cs typeface="Roboto Slab" pitchFamily="34" charset="-120"/>
              </a:rPr>
              <a:t>Key Function</a:t>
            </a:r>
            <a:endParaRPr lang="en-US" sz="1950" dirty="0"/>
          </a:p>
        </p:txBody>
      </p:sp>
      <p:sp>
        <p:nvSpPr>
          <p:cNvPr id="6" name="Text 2"/>
          <p:cNvSpPr/>
          <p:nvPr/>
        </p:nvSpPr>
        <p:spPr>
          <a:xfrm>
            <a:off x="2009299" y="2785110"/>
            <a:ext cx="6431399" cy="642938"/>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The </a:t>
            </a:r>
            <a:r>
              <a:rPr lang="en-US" sz="1550" b="1" dirty="0">
                <a:solidFill>
                  <a:srgbClr val="D6E5EF"/>
                </a:solidFill>
                <a:latin typeface="Roboto" pitchFamily="34" charset="0"/>
                <a:ea typeface="Roboto" pitchFamily="34" charset="-122"/>
                <a:cs typeface="Roboto" pitchFamily="34" charset="-120"/>
              </a:rPr>
              <a:t>onSwitch1Change()</a:t>
            </a:r>
            <a:r>
              <a:rPr lang="en-US" sz="1550" dirty="0">
                <a:solidFill>
                  <a:srgbClr val="D6E5EF"/>
                </a:solidFill>
                <a:latin typeface="Roboto" pitchFamily="34" charset="0"/>
                <a:ea typeface="Roboto" pitchFamily="34" charset="-122"/>
                <a:cs typeface="Roboto" pitchFamily="34" charset="-120"/>
              </a:rPr>
              <a:t> function is crucial for controlling the relay. It reads the state of the </a:t>
            </a:r>
            <a:r>
              <a:rPr lang="en-US" sz="1550" b="1" dirty="0">
                <a:solidFill>
                  <a:srgbClr val="D6E5EF"/>
                </a:solidFill>
                <a:latin typeface="Roboto" pitchFamily="34" charset="0"/>
                <a:ea typeface="Roboto" pitchFamily="34" charset="-122"/>
                <a:cs typeface="Roboto" pitchFamily="34" charset="-120"/>
              </a:rPr>
              <a:t>light1</a:t>
            </a:r>
            <a:r>
              <a:rPr lang="en-US" sz="1550" dirty="0">
                <a:solidFill>
                  <a:srgbClr val="D6E5EF"/>
                </a:solidFill>
                <a:latin typeface="Roboto" pitchFamily="34" charset="0"/>
                <a:ea typeface="Roboto" pitchFamily="34" charset="-122"/>
                <a:cs typeface="Roboto" pitchFamily="34" charset="-120"/>
              </a:rPr>
              <a:t> variable and sets the relay pin accordingly.</a:t>
            </a:r>
            <a:endParaRPr lang="en-US" sz="1550" dirty="0"/>
          </a:p>
        </p:txBody>
      </p:sp>
      <p:pic>
        <p:nvPicPr>
          <p:cNvPr id="7" name="Image 2" descr="preencoded.png"/>
          <p:cNvPicPr>
            <a:picLocks noChangeAspect="1"/>
          </p:cNvPicPr>
          <p:nvPr/>
        </p:nvPicPr>
        <p:blipFill>
          <a:blip r:embed="rId4"/>
          <a:stretch>
            <a:fillRect/>
          </a:stretch>
        </p:blipFill>
        <p:spPr>
          <a:xfrm>
            <a:off x="703302" y="3628906"/>
            <a:ext cx="1004649" cy="2207300"/>
          </a:xfrm>
          <a:prstGeom prst="rect">
            <a:avLst/>
          </a:prstGeom>
        </p:spPr>
      </p:pic>
      <p:sp>
        <p:nvSpPr>
          <p:cNvPr id="8" name="Text 3"/>
          <p:cNvSpPr/>
          <p:nvPr/>
        </p:nvSpPr>
        <p:spPr>
          <a:xfrm>
            <a:off x="2009299" y="3829764"/>
            <a:ext cx="2511743" cy="313968"/>
          </a:xfrm>
          <a:prstGeom prst="rect">
            <a:avLst/>
          </a:prstGeom>
          <a:noFill/>
          <a:ln/>
        </p:spPr>
        <p:txBody>
          <a:bodyPr wrap="none" lIns="0" tIns="0" rIns="0" bIns="0" rtlCol="0" anchor="t"/>
          <a:lstStyle/>
          <a:p>
            <a:pPr marL="0" indent="0" algn="l">
              <a:lnSpc>
                <a:spcPts val="2450"/>
              </a:lnSpc>
              <a:buNone/>
            </a:pPr>
            <a:r>
              <a:rPr lang="en-US" sz="1950" dirty="0">
                <a:solidFill>
                  <a:srgbClr val="D6E5EF"/>
                </a:solidFill>
                <a:latin typeface="Roboto Slab" pitchFamily="34" charset="0"/>
                <a:ea typeface="Roboto Slab" pitchFamily="34" charset="-122"/>
                <a:cs typeface="Roboto Slab" pitchFamily="34" charset="-120"/>
              </a:rPr>
              <a:t>Relay Logic</a:t>
            </a:r>
            <a:endParaRPr lang="en-US" sz="1950" dirty="0"/>
          </a:p>
        </p:txBody>
      </p:sp>
      <p:sp>
        <p:nvSpPr>
          <p:cNvPr id="9" name="Shape 4"/>
          <p:cNvSpPr/>
          <p:nvPr/>
        </p:nvSpPr>
        <p:spPr>
          <a:xfrm>
            <a:off x="2009299" y="4369713"/>
            <a:ext cx="6431399" cy="1265634"/>
          </a:xfrm>
          <a:prstGeom prst="roundRect">
            <a:avLst>
              <a:gd name="adj" fmla="val 2382"/>
            </a:avLst>
          </a:prstGeom>
          <a:solidFill>
            <a:srgbClr val="082545"/>
          </a:solidFill>
          <a:ln/>
        </p:spPr>
      </p:sp>
      <p:sp>
        <p:nvSpPr>
          <p:cNvPr id="10" name="Shape 5"/>
          <p:cNvSpPr/>
          <p:nvPr/>
        </p:nvSpPr>
        <p:spPr>
          <a:xfrm>
            <a:off x="1999298" y="4369713"/>
            <a:ext cx="6451402" cy="1265634"/>
          </a:xfrm>
          <a:prstGeom prst="roundRect">
            <a:avLst>
              <a:gd name="adj" fmla="val 2382"/>
            </a:avLst>
          </a:prstGeom>
          <a:solidFill>
            <a:srgbClr val="082545"/>
          </a:solidFill>
          <a:ln/>
        </p:spPr>
      </p:sp>
      <p:sp>
        <p:nvSpPr>
          <p:cNvPr id="11" name="Text 6"/>
          <p:cNvSpPr/>
          <p:nvPr/>
        </p:nvSpPr>
        <p:spPr>
          <a:xfrm>
            <a:off x="2200156" y="4520327"/>
            <a:ext cx="6049685" cy="964406"/>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highlight>
                  <a:srgbClr val="082545"/>
                </a:highlight>
                <a:latin typeface="Consolas" pitchFamily="34" charset="0"/>
                <a:ea typeface="Consolas" pitchFamily="34" charset="-122"/>
                <a:cs typeface="Consolas" pitchFamily="34" charset="-120"/>
              </a:rPr>
              <a:t>void onSwitch1Change() {</a:t>
            </a:r>
            <a:endParaRPr lang="en-US" sz="1550" dirty="0"/>
          </a:p>
          <a:p>
            <a:pPr marL="0" indent="0" algn="l">
              <a:lnSpc>
                <a:spcPts val="2500"/>
              </a:lnSpc>
              <a:buNone/>
            </a:pPr>
            <a:r>
              <a:rPr lang="en-US" sz="1550" dirty="0">
                <a:solidFill>
                  <a:srgbClr val="D6E5EF"/>
                </a:solidFill>
                <a:highlight>
                  <a:srgbClr val="082545"/>
                </a:highlight>
                <a:latin typeface="Consolas" pitchFamily="34" charset="0"/>
                <a:ea typeface="Consolas" pitchFamily="34" charset="-122"/>
                <a:cs typeface="Consolas" pitchFamily="34" charset="-120"/>
              </a:rPr>
              <a:t>  digitalWrite(RelayPin1, light1 ? LOW : HIGH);</a:t>
            </a:r>
            <a:endParaRPr lang="en-US" sz="1550" dirty="0"/>
          </a:p>
          <a:p>
            <a:pPr marL="0" indent="0" algn="l">
              <a:lnSpc>
                <a:spcPts val="2500"/>
              </a:lnSpc>
              <a:buNone/>
            </a:pPr>
            <a:r>
              <a:rPr lang="en-US" sz="1550" dirty="0">
                <a:solidFill>
                  <a:srgbClr val="D6E5EF"/>
                </a:solidFill>
                <a:highlight>
                  <a:srgbClr val="082545"/>
                </a:highlight>
                <a:latin typeface="Consolas" pitchFamily="34" charset="0"/>
                <a:ea typeface="Consolas" pitchFamily="34" charset="-122"/>
                <a:cs typeface="Consolas" pitchFamily="34" charset="-120"/>
              </a:rPr>
              <a:t>}</a:t>
            </a:r>
            <a:endParaRPr lang="en-US" sz="1550" dirty="0"/>
          </a:p>
        </p:txBody>
      </p:sp>
      <p:pic>
        <p:nvPicPr>
          <p:cNvPr id="12" name="Image 3" descr="preencoded.png"/>
          <p:cNvPicPr>
            <a:picLocks noChangeAspect="1"/>
          </p:cNvPicPr>
          <p:nvPr/>
        </p:nvPicPr>
        <p:blipFill>
          <a:blip r:embed="rId5"/>
          <a:stretch>
            <a:fillRect/>
          </a:stretch>
        </p:blipFill>
        <p:spPr>
          <a:xfrm>
            <a:off x="703302" y="5836206"/>
            <a:ext cx="1004649" cy="1800582"/>
          </a:xfrm>
          <a:prstGeom prst="rect">
            <a:avLst/>
          </a:prstGeom>
        </p:spPr>
      </p:pic>
      <p:sp>
        <p:nvSpPr>
          <p:cNvPr id="13" name="Text 7"/>
          <p:cNvSpPr/>
          <p:nvPr/>
        </p:nvSpPr>
        <p:spPr>
          <a:xfrm>
            <a:off x="2009299" y="6037064"/>
            <a:ext cx="2511743" cy="313968"/>
          </a:xfrm>
          <a:prstGeom prst="rect">
            <a:avLst/>
          </a:prstGeom>
          <a:noFill/>
          <a:ln/>
        </p:spPr>
        <p:txBody>
          <a:bodyPr wrap="none" lIns="0" tIns="0" rIns="0" bIns="0" rtlCol="0" anchor="t"/>
          <a:lstStyle/>
          <a:p>
            <a:pPr marL="0" indent="0" algn="l">
              <a:lnSpc>
                <a:spcPts val="2450"/>
              </a:lnSpc>
              <a:buNone/>
            </a:pPr>
            <a:r>
              <a:rPr lang="en-US" sz="1950" dirty="0">
                <a:solidFill>
                  <a:srgbClr val="D6E5EF"/>
                </a:solidFill>
                <a:latin typeface="Roboto Slab" pitchFamily="34" charset="0"/>
                <a:ea typeface="Roboto Slab" pitchFamily="34" charset="-122"/>
                <a:cs typeface="Roboto Slab" pitchFamily="34" charset="-120"/>
              </a:rPr>
              <a:t>Explanation</a:t>
            </a:r>
            <a:endParaRPr lang="en-US" sz="1950" dirty="0"/>
          </a:p>
        </p:txBody>
      </p:sp>
      <p:sp>
        <p:nvSpPr>
          <p:cNvPr id="14" name="Text 8"/>
          <p:cNvSpPr/>
          <p:nvPr/>
        </p:nvSpPr>
        <p:spPr>
          <a:xfrm>
            <a:off x="2009299" y="6471523"/>
            <a:ext cx="6431399" cy="964406"/>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If </a:t>
            </a:r>
            <a:r>
              <a:rPr lang="en-US" sz="1550" b="1" dirty="0">
                <a:solidFill>
                  <a:srgbClr val="D6E5EF"/>
                </a:solidFill>
                <a:latin typeface="Roboto" pitchFamily="34" charset="0"/>
                <a:ea typeface="Roboto" pitchFamily="34" charset="-122"/>
                <a:cs typeface="Roboto" pitchFamily="34" charset="-120"/>
              </a:rPr>
              <a:t>light1</a:t>
            </a:r>
            <a:r>
              <a:rPr lang="en-US" sz="1550" dirty="0">
                <a:solidFill>
                  <a:srgbClr val="D6E5EF"/>
                </a:solidFill>
                <a:latin typeface="Roboto" pitchFamily="34" charset="0"/>
                <a:ea typeface="Roboto" pitchFamily="34" charset="-122"/>
                <a:cs typeface="Roboto" pitchFamily="34" charset="-120"/>
              </a:rPr>
              <a:t> is </a:t>
            </a:r>
            <a:r>
              <a:rPr lang="en-US" sz="1550" b="1" dirty="0">
                <a:solidFill>
                  <a:srgbClr val="D6E5EF"/>
                </a:solidFill>
                <a:latin typeface="Roboto" pitchFamily="34" charset="0"/>
                <a:ea typeface="Roboto" pitchFamily="34" charset="-122"/>
                <a:cs typeface="Roboto" pitchFamily="34" charset="-120"/>
              </a:rPr>
              <a:t>true</a:t>
            </a:r>
            <a:r>
              <a:rPr lang="en-US" sz="1550" dirty="0">
                <a:solidFill>
                  <a:srgbClr val="D6E5EF"/>
                </a:solidFill>
                <a:latin typeface="Roboto" pitchFamily="34" charset="0"/>
                <a:ea typeface="Roboto" pitchFamily="34" charset="-122"/>
                <a:cs typeface="Roboto" pitchFamily="34" charset="-120"/>
              </a:rPr>
              <a:t> (ON), the relay pin is set to </a:t>
            </a:r>
            <a:r>
              <a:rPr lang="en-US" sz="1550" b="1" dirty="0">
                <a:solidFill>
                  <a:srgbClr val="D6E5EF"/>
                </a:solidFill>
                <a:latin typeface="Roboto" pitchFamily="34" charset="0"/>
                <a:ea typeface="Roboto" pitchFamily="34" charset="-122"/>
                <a:cs typeface="Roboto" pitchFamily="34" charset="-120"/>
              </a:rPr>
              <a:t>LOW</a:t>
            </a:r>
            <a:r>
              <a:rPr lang="en-US" sz="1550" dirty="0">
                <a:solidFill>
                  <a:srgbClr val="D6E5EF"/>
                </a:solidFill>
                <a:latin typeface="Roboto" pitchFamily="34" charset="0"/>
                <a:ea typeface="Roboto" pitchFamily="34" charset="-122"/>
                <a:cs typeface="Roboto" pitchFamily="34" charset="-120"/>
              </a:rPr>
              <a:t>, activating the relay and turning on the appliance. If </a:t>
            </a:r>
            <a:r>
              <a:rPr lang="en-US" sz="1550" b="1" dirty="0">
                <a:solidFill>
                  <a:srgbClr val="D6E5EF"/>
                </a:solidFill>
                <a:latin typeface="Roboto" pitchFamily="34" charset="0"/>
                <a:ea typeface="Roboto" pitchFamily="34" charset="-122"/>
                <a:cs typeface="Roboto" pitchFamily="34" charset="-120"/>
              </a:rPr>
              <a:t>light1</a:t>
            </a:r>
            <a:r>
              <a:rPr lang="en-US" sz="1550" dirty="0">
                <a:solidFill>
                  <a:srgbClr val="D6E5EF"/>
                </a:solidFill>
                <a:latin typeface="Roboto" pitchFamily="34" charset="0"/>
                <a:ea typeface="Roboto" pitchFamily="34" charset="-122"/>
                <a:cs typeface="Roboto" pitchFamily="34" charset="-120"/>
              </a:rPr>
              <a:t> is </a:t>
            </a:r>
            <a:r>
              <a:rPr lang="en-US" sz="1550" b="1" dirty="0">
                <a:solidFill>
                  <a:srgbClr val="D6E5EF"/>
                </a:solidFill>
                <a:latin typeface="Roboto" pitchFamily="34" charset="0"/>
                <a:ea typeface="Roboto" pitchFamily="34" charset="-122"/>
                <a:cs typeface="Roboto" pitchFamily="34" charset="-120"/>
              </a:rPr>
              <a:t>false</a:t>
            </a:r>
            <a:r>
              <a:rPr lang="en-US" sz="1550" dirty="0">
                <a:solidFill>
                  <a:srgbClr val="D6E5EF"/>
                </a:solidFill>
                <a:latin typeface="Roboto" pitchFamily="34" charset="0"/>
                <a:ea typeface="Roboto" pitchFamily="34" charset="-122"/>
                <a:cs typeface="Roboto" pitchFamily="34" charset="-120"/>
              </a:rPr>
              <a:t> (OFF), the relay pin is set to </a:t>
            </a:r>
            <a:r>
              <a:rPr lang="en-US" sz="1550" b="1" dirty="0">
                <a:solidFill>
                  <a:srgbClr val="D6E5EF"/>
                </a:solidFill>
                <a:latin typeface="Roboto" pitchFamily="34" charset="0"/>
                <a:ea typeface="Roboto" pitchFamily="34" charset="-122"/>
                <a:cs typeface="Roboto" pitchFamily="34" charset="-120"/>
              </a:rPr>
              <a:t>HIGH</a:t>
            </a:r>
            <a:r>
              <a:rPr lang="en-US" sz="1550" dirty="0">
                <a:solidFill>
                  <a:srgbClr val="D6E5EF"/>
                </a:solidFill>
                <a:latin typeface="Roboto" pitchFamily="34" charset="0"/>
                <a:ea typeface="Roboto" pitchFamily="34" charset="-122"/>
                <a:cs typeface="Roboto" pitchFamily="34" charset="-120"/>
              </a:rPr>
              <a:t>, deactivating the relay and turning off the appliance.</a:t>
            </a:r>
            <a:endParaRPr lang="en-US" sz="1550" dirty="0"/>
          </a:p>
        </p:txBody>
      </p:sp>
      <p:pic>
        <p:nvPicPr>
          <p:cNvPr id="18" name="Picture 17">
            <a:extLst>
              <a:ext uri="{FF2B5EF4-FFF2-40B4-BE49-F238E27FC236}">
                <a16:creationId xmlns:a16="http://schemas.microsoft.com/office/drawing/2014/main" id="{DE1A900A-6F91-E961-A806-182F609A70F7}"/>
              </a:ext>
            </a:extLst>
          </p:cNvPr>
          <p:cNvPicPr>
            <a:picLocks noChangeAspect="1"/>
          </p:cNvPicPr>
          <p:nvPr/>
        </p:nvPicPr>
        <p:blipFill>
          <a:blip r:embed="rId6"/>
          <a:stretch>
            <a:fillRect/>
          </a:stretch>
        </p:blipFill>
        <p:spPr>
          <a:xfrm>
            <a:off x="8249840" y="0"/>
            <a:ext cx="6317823" cy="82295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251109"/>
            <a:ext cx="9604296"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Demonstration and Key Advantages</a:t>
            </a:r>
            <a:endParaRPr lang="en-US" sz="4450" dirty="0"/>
          </a:p>
        </p:txBody>
      </p:sp>
      <p:sp>
        <p:nvSpPr>
          <p:cNvPr id="3" name="Text 1"/>
          <p:cNvSpPr/>
          <p:nvPr/>
        </p:nvSpPr>
        <p:spPr>
          <a:xfrm>
            <a:off x="1857256" y="2498646"/>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D6E5EF"/>
                </a:solidFill>
                <a:latin typeface="Roboto Slab" pitchFamily="34" charset="0"/>
                <a:ea typeface="Roboto Slab" pitchFamily="34" charset="-122"/>
                <a:cs typeface="Roboto Slab" pitchFamily="34" charset="-120"/>
              </a:rPr>
              <a:t>Demo</a:t>
            </a:r>
            <a:endParaRPr lang="en-US" sz="2200" dirty="0"/>
          </a:p>
        </p:txBody>
      </p:sp>
      <p:sp>
        <p:nvSpPr>
          <p:cNvPr id="4" name="Text 2"/>
          <p:cNvSpPr/>
          <p:nvPr/>
        </p:nvSpPr>
        <p:spPr>
          <a:xfrm>
            <a:off x="793790" y="2989064"/>
            <a:ext cx="3898702" cy="1814513"/>
          </a:xfrm>
          <a:prstGeom prst="rect">
            <a:avLst/>
          </a:prstGeom>
          <a:noFill/>
          <a:ln/>
        </p:spPr>
        <p:txBody>
          <a:bodyPr wrap="square" lIns="0" tIns="0" rIns="0" bIns="0" rtlCol="0" anchor="t"/>
          <a:lstStyle/>
          <a:p>
            <a:pPr marL="0" indent="0" algn="r">
              <a:lnSpc>
                <a:spcPts val="2850"/>
              </a:lnSpc>
              <a:buNone/>
            </a:pPr>
            <a:r>
              <a:rPr lang="en-US" sz="1750" dirty="0">
                <a:solidFill>
                  <a:srgbClr val="D6E5EF"/>
                </a:solidFill>
                <a:latin typeface="Roboto" pitchFamily="34" charset="0"/>
                <a:ea typeface="Roboto" pitchFamily="34" charset="-122"/>
                <a:cs typeface="Roboto" pitchFamily="34" charset="-120"/>
              </a:rPr>
              <a:t>Toggle the switch on the Arduino IoT Cloud dashboard to turn the bulb ON and OFF remotely. This showcases the real-time control capabilities of the system.</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6226731" y="3176588"/>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1</a:t>
            </a:r>
            <a:endParaRPr lang="en-US" sz="2650" dirty="0"/>
          </a:p>
        </p:txBody>
      </p:sp>
      <p:sp>
        <p:nvSpPr>
          <p:cNvPr id="7" name="Text 4"/>
          <p:cNvSpPr/>
          <p:nvPr/>
        </p:nvSpPr>
        <p:spPr>
          <a:xfrm>
            <a:off x="9937790" y="28615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Low-Cost</a:t>
            </a:r>
            <a:endParaRPr lang="en-US" sz="2200" dirty="0"/>
          </a:p>
        </p:txBody>
      </p:sp>
      <p:sp>
        <p:nvSpPr>
          <p:cNvPr id="8" name="Text 5"/>
          <p:cNvSpPr/>
          <p:nvPr/>
        </p:nvSpPr>
        <p:spPr>
          <a:xfrm>
            <a:off x="9937790" y="3351967"/>
            <a:ext cx="3898821"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Utilizing affordable components like NodeMCU and relay modules makes this a budget-friendly solution.</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8452604" y="3565088"/>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2</a:t>
            </a:r>
            <a:endParaRPr lang="en-US" sz="2650" dirty="0"/>
          </a:p>
        </p:txBody>
      </p:sp>
      <p:sp>
        <p:nvSpPr>
          <p:cNvPr id="11" name="Text 7"/>
          <p:cNvSpPr/>
          <p:nvPr/>
        </p:nvSpPr>
        <p:spPr>
          <a:xfrm>
            <a:off x="9937790" y="531411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Secure</a:t>
            </a:r>
            <a:endParaRPr lang="en-US" sz="2200" dirty="0"/>
          </a:p>
        </p:txBody>
      </p:sp>
      <p:sp>
        <p:nvSpPr>
          <p:cNvPr id="12" name="Text 8"/>
          <p:cNvSpPr/>
          <p:nvPr/>
        </p:nvSpPr>
        <p:spPr>
          <a:xfrm>
            <a:off x="9937790" y="5804535"/>
            <a:ext cx="3898821"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The Arduino IoT Cloud provides secure communication between your device and the cloud.</a:t>
            </a:r>
            <a:endParaRPr lang="en-US" sz="1750" dirty="0"/>
          </a:p>
        </p:txBody>
      </p:sp>
      <p:pic>
        <p:nvPicPr>
          <p:cNvPr id="13" name="Image 2" descr="preencoded.png"/>
          <p:cNvPicPr>
            <a:picLocks noChangeAspect="1"/>
          </p:cNvPicPr>
          <p:nvPr/>
        </p:nvPicPr>
        <p:blipFill>
          <a:blip r:embed="rId5"/>
          <a:stretch>
            <a:fillRect/>
          </a:stretch>
        </p:blipFill>
        <p:spPr>
          <a:xfrm>
            <a:off x="5032653" y="2413516"/>
            <a:ext cx="4564975" cy="4564975"/>
          </a:xfrm>
          <a:prstGeom prst="rect">
            <a:avLst/>
          </a:prstGeom>
        </p:spPr>
      </p:pic>
      <p:sp>
        <p:nvSpPr>
          <p:cNvPr id="14" name="Text 9"/>
          <p:cNvSpPr/>
          <p:nvPr/>
        </p:nvSpPr>
        <p:spPr>
          <a:xfrm>
            <a:off x="8064103" y="5790962"/>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3</a:t>
            </a:r>
            <a:endParaRPr lang="en-US" sz="2650" dirty="0"/>
          </a:p>
        </p:txBody>
      </p:sp>
      <p:sp>
        <p:nvSpPr>
          <p:cNvPr id="15" name="Text 10"/>
          <p:cNvSpPr/>
          <p:nvPr/>
        </p:nvSpPr>
        <p:spPr>
          <a:xfrm>
            <a:off x="1857256" y="5314117"/>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D6E5EF"/>
                </a:solidFill>
                <a:latin typeface="Roboto Slab" pitchFamily="34" charset="0"/>
                <a:ea typeface="Roboto Slab" pitchFamily="34" charset="-122"/>
                <a:cs typeface="Roboto Slab" pitchFamily="34" charset="-120"/>
              </a:rPr>
              <a:t>Scalable</a:t>
            </a:r>
            <a:endParaRPr lang="en-US" sz="2200" dirty="0"/>
          </a:p>
        </p:txBody>
      </p:sp>
      <p:sp>
        <p:nvSpPr>
          <p:cNvPr id="16" name="Text 11"/>
          <p:cNvSpPr/>
          <p:nvPr/>
        </p:nvSpPr>
        <p:spPr>
          <a:xfrm>
            <a:off x="793790" y="5804535"/>
            <a:ext cx="3898702" cy="1088708"/>
          </a:xfrm>
          <a:prstGeom prst="rect">
            <a:avLst/>
          </a:prstGeom>
          <a:noFill/>
          <a:ln/>
        </p:spPr>
        <p:txBody>
          <a:bodyPr wrap="square" lIns="0" tIns="0" rIns="0" bIns="0" rtlCol="0" anchor="t"/>
          <a:lstStyle/>
          <a:p>
            <a:pPr marL="0" indent="0" algn="r">
              <a:lnSpc>
                <a:spcPts val="2850"/>
              </a:lnSpc>
              <a:buNone/>
            </a:pPr>
            <a:r>
              <a:rPr lang="en-US" sz="1750" dirty="0">
                <a:solidFill>
                  <a:srgbClr val="D6E5EF"/>
                </a:solidFill>
                <a:latin typeface="Roboto" pitchFamily="34" charset="0"/>
                <a:ea typeface="Roboto" pitchFamily="34" charset="-122"/>
                <a:cs typeface="Roboto" pitchFamily="34" charset="-120"/>
              </a:rPr>
              <a:t>Easily add more devices and expand your smart home automation system as needed.</a:t>
            </a:r>
            <a:endParaRPr lang="en-US" sz="1750" dirty="0"/>
          </a:p>
        </p:txBody>
      </p:sp>
      <p:pic>
        <p:nvPicPr>
          <p:cNvPr id="17" name="Image 3" descr="preencoded.png"/>
          <p:cNvPicPr>
            <a:picLocks noChangeAspect="1"/>
          </p:cNvPicPr>
          <p:nvPr/>
        </p:nvPicPr>
        <p:blipFill>
          <a:blip r:embed="rId6"/>
          <a:stretch>
            <a:fillRect/>
          </a:stretch>
        </p:blipFill>
        <p:spPr>
          <a:xfrm>
            <a:off x="5032653" y="2413516"/>
            <a:ext cx="4564975" cy="4564975"/>
          </a:xfrm>
          <a:prstGeom prst="rect">
            <a:avLst/>
          </a:prstGeom>
        </p:spPr>
      </p:pic>
      <p:sp>
        <p:nvSpPr>
          <p:cNvPr id="18" name="Text 12"/>
          <p:cNvSpPr/>
          <p:nvPr/>
        </p:nvSpPr>
        <p:spPr>
          <a:xfrm>
            <a:off x="5838230" y="5402461"/>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D6E5EF"/>
                </a:solidFill>
                <a:latin typeface="Roboto Slab" pitchFamily="34" charset="0"/>
                <a:ea typeface="Roboto Slab" pitchFamily="34" charset="-122"/>
                <a:cs typeface="Roboto Slab" pitchFamily="34" charset="-120"/>
              </a:rPr>
              <a:t>4</a:t>
            </a:r>
            <a:endParaRPr lang="en-US" sz="2650" dirty="0"/>
          </a:p>
        </p:txBody>
      </p:sp>
      <p:sp>
        <p:nvSpPr>
          <p:cNvPr id="19" name="Rectangle 18">
            <a:extLst>
              <a:ext uri="{FF2B5EF4-FFF2-40B4-BE49-F238E27FC236}">
                <a16:creationId xmlns:a16="http://schemas.microsoft.com/office/drawing/2014/main" id="{99C0B40C-CCE5-5451-CCFE-91A92B37EDA4}"/>
              </a:ext>
            </a:extLst>
          </p:cNvPr>
          <p:cNvSpPr/>
          <p:nvPr/>
        </p:nvSpPr>
        <p:spPr>
          <a:xfrm>
            <a:off x="12741965" y="7543800"/>
            <a:ext cx="1789044" cy="685800"/>
          </a:xfrm>
          <a:prstGeom prst="rect">
            <a:avLst/>
          </a:prstGeom>
          <a:solidFill>
            <a:srgbClr val="202733"/>
          </a:solidFill>
          <a:ln>
            <a:solidFill>
              <a:srgbClr val="2027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411605"/>
            <a:ext cx="9378672"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Challenges and Future Possibilities</a:t>
            </a:r>
            <a:endParaRPr lang="en-US" sz="4450" dirty="0"/>
          </a:p>
        </p:txBody>
      </p:sp>
      <p:pic>
        <p:nvPicPr>
          <p:cNvPr id="3" name="Image 0" descr="preencoded.png"/>
          <p:cNvPicPr>
            <a:picLocks noChangeAspect="1"/>
          </p:cNvPicPr>
          <p:nvPr/>
        </p:nvPicPr>
        <p:blipFill>
          <a:blip r:embed="rId3"/>
          <a:stretch>
            <a:fillRect/>
          </a:stretch>
        </p:blipFill>
        <p:spPr>
          <a:xfrm>
            <a:off x="2978348" y="2574012"/>
            <a:ext cx="2152055" cy="807958"/>
          </a:xfrm>
          <a:prstGeom prst="rect">
            <a:avLst/>
          </a:prstGeom>
        </p:spPr>
      </p:pic>
      <p:sp>
        <p:nvSpPr>
          <p:cNvPr id="4" name="Text 1"/>
          <p:cNvSpPr/>
          <p:nvPr/>
        </p:nvSpPr>
        <p:spPr>
          <a:xfrm>
            <a:off x="3894892" y="2865834"/>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1</a:t>
            </a:r>
            <a:endParaRPr lang="en-US" sz="2500" dirty="0"/>
          </a:p>
        </p:txBody>
      </p:sp>
      <p:sp>
        <p:nvSpPr>
          <p:cNvPr id="5" name="Text 2"/>
          <p:cNvSpPr/>
          <p:nvPr/>
        </p:nvSpPr>
        <p:spPr>
          <a:xfrm>
            <a:off x="5357217" y="2800826"/>
            <a:ext cx="175224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Voice control</a:t>
            </a:r>
            <a:endParaRPr lang="en-US" sz="2200" dirty="0"/>
          </a:p>
        </p:txBody>
      </p:sp>
      <p:sp>
        <p:nvSpPr>
          <p:cNvPr id="6" name="Shape 3"/>
          <p:cNvSpPr/>
          <p:nvPr/>
        </p:nvSpPr>
        <p:spPr>
          <a:xfrm>
            <a:off x="5187077" y="3395067"/>
            <a:ext cx="8592860" cy="15240"/>
          </a:xfrm>
          <a:prstGeom prst="roundRect">
            <a:avLst>
              <a:gd name="adj" fmla="val 223256"/>
            </a:avLst>
          </a:prstGeom>
          <a:solidFill>
            <a:srgbClr val="585F6B"/>
          </a:solidFill>
          <a:ln/>
        </p:spPr>
      </p:sp>
      <p:pic>
        <p:nvPicPr>
          <p:cNvPr id="7" name="Image 1" descr="preencoded.png"/>
          <p:cNvPicPr>
            <a:picLocks noChangeAspect="1"/>
          </p:cNvPicPr>
          <p:nvPr/>
        </p:nvPicPr>
        <p:blipFill>
          <a:blip r:embed="rId4"/>
          <a:stretch>
            <a:fillRect/>
          </a:stretch>
        </p:blipFill>
        <p:spPr>
          <a:xfrm>
            <a:off x="1902381" y="3438644"/>
            <a:ext cx="4304109" cy="807958"/>
          </a:xfrm>
          <a:prstGeom prst="rect">
            <a:avLst/>
          </a:prstGeom>
        </p:spPr>
      </p:pic>
      <p:sp>
        <p:nvSpPr>
          <p:cNvPr id="8" name="Text 4"/>
          <p:cNvSpPr/>
          <p:nvPr/>
        </p:nvSpPr>
        <p:spPr>
          <a:xfrm>
            <a:off x="3894892" y="3643313"/>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2</a:t>
            </a:r>
            <a:endParaRPr lang="en-US" sz="2500" dirty="0"/>
          </a:p>
        </p:txBody>
      </p:sp>
      <p:sp>
        <p:nvSpPr>
          <p:cNvPr id="9" name="Text 5"/>
          <p:cNvSpPr/>
          <p:nvPr/>
        </p:nvSpPr>
        <p:spPr>
          <a:xfrm>
            <a:off x="6433304" y="3665458"/>
            <a:ext cx="1645801"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Add sensors</a:t>
            </a:r>
            <a:endParaRPr lang="en-US" sz="2200" dirty="0"/>
          </a:p>
        </p:txBody>
      </p:sp>
      <p:sp>
        <p:nvSpPr>
          <p:cNvPr id="10" name="Shape 6"/>
          <p:cNvSpPr/>
          <p:nvPr/>
        </p:nvSpPr>
        <p:spPr>
          <a:xfrm>
            <a:off x="6263164" y="4259699"/>
            <a:ext cx="7516773" cy="15240"/>
          </a:xfrm>
          <a:prstGeom prst="roundRect">
            <a:avLst>
              <a:gd name="adj" fmla="val 223256"/>
            </a:avLst>
          </a:prstGeom>
          <a:solidFill>
            <a:srgbClr val="585F6B"/>
          </a:solidFill>
          <a:ln/>
        </p:spPr>
      </p:sp>
      <p:pic>
        <p:nvPicPr>
          <p:cNvPr id="11" name="Image 2" descr="preencoded.png"/>
          <p:cNvPicPr>
            <a:picLocks noChangeAspect="1"/>
          </p:cNvPicPr>
          <p:nvPr/>
        </p:nvPicPr>
        <p:blipFill>
          <a:blip r:embed="rId5"/>
          <a:stretch>
            <a:fillRect/>
          </a:stretch>
        </p:blipFill>
        <p:spPr>
          <a:xfrm>
            <a:off x="826294" y="4303276"/>
            <a:ext cx="6456164" cy="807958"/>
          </a:xfrm>
          <a:prstGeom prst="rect">
            <a:avLst/>
          </a:prstGeom>
        </p:spPr>
      </p:pic>
      <p:sp>
        <p:nvSpPr>
          <p:cNvPr id="12" name="Text 7"/>
          <p:cNvSpPr/>
          <p:nvPr/>
        </p:nvSpPr>
        <p:spPr>
          <a:xfrm>
            <a:off x="3894773" y="4507944"/>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3</a:t>
            </a:r>
            <a:endParaRPr lang="en-US" sz="2500" dirty="0"/>
          </a:p>
        </p:txBody>
      </p:sp>
      <p:sp>
        <p:nvSpPr>
          <p:cNvPr id="13" name="Text 8"/>
          <p:cNvSpPr/>
          <p:nvPr/>
        </p:nvSpPr>
        <p:spPr>
          <a:xfrm>
            <a:off x="7509272" y="4530090"/>
            <a:ext cx="192369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Wi-Fi stability</a:t>
            </a:r>
            <a:endParaRPr lang="en-US" sz="2200" dirty="0"/>
          </a:p>
        </p:txBody>
      </p:sp>
      <p:sp>
        <p:nvSpPr>
          <p:cNvPr id="14" name="Text 9"/>
          <p:cNvSpPr/>
          <p:nvPr/>
        </p:nvSpPr>
        <p:spPr>
          <a:xfrm>
            <a:off x="793790" y="5366385"/>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Like any IoT project, this system can face challenges such as Wi-Fi connectivity issues. Implementing auto-reconnect code can help mitigate these problems. Looking ahead, we can integrate voice control via Alexa and incorporate sensors like PIR and temperature sensors for enhanced automation. These future additions can significantly improve the functionality and user experience of the system, making it a truly smart home solution.</a:t>
            </a:r>
            <a:endParaRPr lang="en-US" sz="1750" dirty="0"/>
          </a:p>
        </p:txBody>
      </p:sp>
      <p:sp>
        <p:nvSpPr>
          <p:cNvPr id="15" name="Rectangle 14">
            <a:extLst>
              <a:ext uri="{FF2B5EF4-FFF2-40B4-BE49-F238E27FC236}">
                <a16:creationId xmlns:a16="http://schemas.microsoft.com/office/drawing/2014/main" id="{03190613-CDF2-31BA-6801-4F5C64A3B017}"/>
              </a:ext>
            </a:extLst>
          </p:cNvPr>
          <p:cNvSpPr/>
          <p:nvPr/>
        </p:nvSpPr>
        <p:spPr>
          <a:xfrm>
            <a:off x="12741965" y="7543800"/>
            <a:ext cx="1789044" cy="685800"/>
          </a:xfrm>
          <a:prstGeom prst="rect">
            <a:avLst/>
          </a:prstGeom>
          <a:solidFill>
            <a:srgbClr val="202733"/>
          </a:solidFill>
          <a:ln>
            <a:solidFill>
              <a:srgbClr val="2027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00482"/>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Conclusion: Your Gateway to Advanced IoT Projects</a:t>
            </a:r>
            <a:endParaRPr lang="en-US" sz="4450" dirty="0"/>
          </a:p>
        </p:txBody>
      </p:sp>
      <p:sp>
        <p:nvSpPr>
          <p:cNvPr id="3" name="Shape 1"/>
          <p:cNvSpPr/>
          <p:nvPr/>
        </p:nvSpPr>
        <p:spPr>
          <a:xfrm>
            <a:off x="793790" y="2871668"/>
            <a:ext cx="2173724" cy="807958"/>
          </a:xfrm>
          <a:prstGeom prst="roundRect">
            <a:avLst>
              <a:gd name="adj" fmla="val 4211"/>
            </a:avLst>
          </a:prstGeom>
          <a:solidFill>
            <a:srgbClr val="3F4652"/>
          </a:solidFill>
          <a:ln/>
        </p:spPr>
      </p:sp>
      <p:sp>
        <p:nvSpPr>
          <p:cNvPr id="4" name="Text 2"/>
          <p:cNvSpPr/>
          <p:nvPr/>
        </p:nvSpPr>
        <p:spPr>
          <a:xfrm>
            <a:off x="1721167" y="3076337"/>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1</a:t>
            </a:r>
            <a:endParaRPr lang="en-US" sz="2500" dirty="0"/>
          </a:p>
        </p:txBody>
      </p:sp>
      <p:sp>
        <p:nvSpPr>
          <p:cNvPr id="5" name="Text 3"/>
          <p:cNvSpPr/>
          <p:nvPr/>
        </p:nvSpPr>
        <p:spPr>
          <a:xfrm>
            <a:off x="3194328" y="3098483"/>
            <a:ext cx="5673566"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Successfully built cloud-controlled system</a:t>
            </a:r>
            <a:endParaRPr lang="en-US" sz="2200" dirty="0"/>
          </a:p>
        </p:txBody>
      </p:sp>
      <p:sp>
        <p:nvSpPr>
          <p:cNvPr id="6" name="Shape 4"/>
          <p:cNvSpPr/>
          <p:nvPr/>
        </p:nvSpPr>
        <p:spPr>
          <a:xfrm>
            <a:off x="3080861" y="3664387"/>
            <a:ext cx="10642402" cy="15240"/>
          </a:xfrm>
          <a:prstGeom prst="roundRect">
            <a:avLst>
              <a:gd name="adj" fmla="val 223256"/>
            </a:avLst>
          </a:prstGeom>
          <a:solidFill>
            <a:srgbClr val="585F6B"/>
          </a:solidFill>
          <a:ln/>
        </p:spPr>
      </p:sp>
      <p:sp>
        <p:nvSpPr>
          <p:cNvPr id="7" name="Shape 5"/>
          <p:cNvSpPr/>
          <p:nvPr/>
        </p:nvSpPr>
        <p:spPr>
          <a:xfrm>
            <a:off x="793790" y="3792974"/>
            <a:ext cx="4347567" cy="807958"/>
          </a:xfrm>
          <a:prstGeom prst="roundRect">
            <a:avLst>
              <a:gd name="adj" fmla="val 4211"/>
            </a:avLst>
          </a:prstGeom>
          <a:solidFill>
            <a:srgbClr val="3F4652"/>
          </a:solidFill>
          <a:ln/>
        </p:spPr>
      </p:sp>
      <p:sp>
        <p:nvSpPr>
          <p:cNvPr id="8" name="Text 6"/>
          <p:cNvSpPr/>
          <p:nvPr/>
        </p:nvSpPr>
        <p:spPr>
          <a:xfrm>
            <a:off x="2808089" y="3997643"/>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2</a:t>
            </a:r>
            <a:endParaRPr lang="en-US" sz="2500" dirty="0"/>
          </a:p>
        </p:txBody>
      </p:sp>
      <p:sp>
        <p:nvSpPr>
          <p:cNvPr id="9" name="Text 7"/>
          <p:cNvSpPr/>
          <p:nvPr/>
        </p:nvSpPr>
        <p:spPr>
          <a:xfrm>
            <a:off x="5368171" y="4019788"/>
            <a:ext cx="5354360"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Strong foundation for advanced projects</a:t>
            </a:r>
            <a:endParaRPr lang="en-US" sz="2200" dirty="0"/>
          </a:p>
        </p:txBody>
      </p:sp>
      <p:sp>
        <p:nvSpPr>
          <p:cNvPr id="10" name="Shape 8"/>
          <p:cNvSpPr/>
          <p:nvPr/>
        </p:nvSpPr>
        <p:spPr>
          <a:xfrm>
            <a:off x="5254704" y="4585692"/>
            <a:ext cx="8468558" cy="15240"/>
          </a:xfrm>
          <a:prstGeom prst="roundRect">
            <a:avLst>
              <a:gd name="adj" fmla="val 223256"/>
            </a:avLst>
          </a:prstGeom>
          <a:solidFill>
            <a:srgbClr val="585F6B"/>
          </a:solidFill>
          <a:ln/>
        </p:spPr>
      </p:sp>
      <p:sp>
        <p:nvSpPr>
          <p:cNvPr id="11" name="Shape 9"/>
          <p:cNvSpPr/>
          <p:nvPr/>
        </p:nvSpPr>
        <p:spPr>
          <a:xfrm>
            <a:off x="793790" y="4714280"/>
            <a:ext cx="6521410" cy="807958"/>
          </a:xfrm>
          <a:prstGeom prst="roundRect">
            <a:avLst>
              <a:gd name="adj" fmla="val 4211"/>
            </a:avLst>
          </a:prstGeom>
          <a:solidFill>
            <a:srgbClr val="3F4652"/>
          </a:solidFill>
          <a:ln/>
        </p:spPr>
      </p:sp>
      <p:sp>
        <p:nvSpPr>
          <p:cNvPr id="12" name="Text 10"/>
          <p:cNvSpPr/>
          <p:nvPr/>
        </p:nvSpPr>
        <p:spPr>
          <a:xfrm>
            <a:off x="3895011" y="4918948"/>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6E5EF"/>
                </a:solidFill>
                <a:latin typeface="Roboto Slab" pitchFamily="34" charset="0"/>
                <a:ea typeface="Roboto Slab" pitchFamily="34" charset="-122"/>
                <a:cs typeface="Roboto Slab" pitchFamily="34" charset="-120"/>
              </a:rPr>
              <a:t>3</a:t>
            </a:r>
            <a:endParaRPr lang="en-US" sz="2500" dirty="0"/>
          </a:p>
        </p:txBody>
      </p:sp>
      <p:sp>
        <p:nvSpPr>
          <p:cNvPr id="13" name="Text 11"/>
          <p:cNvSpPr/>
          <p:nvPr/>
        </p:nvSpPr>
        <p:spPr>
          <a:xfrm>
            <a:off x="7542014" y="4941094"/>
            <a:ext cx="2695694"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Explore possibilities</a:t>
            </a:r>
            <a:endParaRPr lang="en-US" sz="2200" dirty="0"/>
          </a:p>
        </p:txBody>
      </p:sp>
      <p:sp>
        <p:nvSpPr>
          <p:cNvPr id="14" name="Text 12"/>
          <p:cNvSpPr/>
          <p:nvPr/>
        </p:nvSpPr>
        <p:spPr>
          <a:xfrm>
            <a:off x="793790" y="5777389"/>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Congratulations! You have successfully built a cloud-controlled automation system that serves as a foundation for advanced IoT projects. This project opens the door to numerous possibilities in smart home automation and beyond. Feel free to explore new sensors, functionalities, and integrations to create a truly personalized and intelligent environment. The world of IoT is vast, and your journey has just begun!</a:t>
            </a:r>
            <a:endParaRPr lang="en-US" sz="1750" dirty="0"/>
          </a:p>
        </p:txBody>
      </p:sp>
      <p:sp>
        <p:nvSpPr>
          <p:cNvPr id="15" name="Rectangle 14">
            <a:extLst>
              <a:ext uri="{FF2B5EF4-FFF2-40B4-BE49-F238E27FC236}">
                <a16:creationId xmlns:a16="http://schemas.microsoft.com/office/drawing/2014/main" id="{5BA89843-B5E0-9C6F-83DE-5D12233BC319}"/>
              </a:ext>
            </a:extLst>
          </p:cNvPr>
          <p:cNvSpPr/>
          <p:nvPr/>
        </p:nvSpPr>
        <p:spPr>
          <a:xfrm>
            <a:off x="12741965" y="7543800"/>
            <a:ext cx="1789044" cy="685800"/>
          </a:xfrm>
          <a:prstGeom prst="rect">
            <a:avLst/>
          </a:prstGeom>
          <a:solidFill>
            <a:srgbClr val="202733"/>
          </a:solidFill>
          <a:ln>
            <a:solidFill>
              <a:srgbClr val="2027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916</Words>
  <Application>Microsoft Office PowerPoint</Application>
  <PresentationFormat>Custom</PresentationFormat>
  <Paragraphs>107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Roboto</vt:lpstr>
      <vt:lpstr>Arial</vt:lpstr>
      <vt:lpstr>Roboto Slab</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SARAVANAN C</cp:lastModifiedBy>
  <cp:revision>2</cp:revision>
  <dcterms:created xsi:type="dcterms:W3CDTF">2025-03-26T10:36:00Z</dcterms:created>
  <dcterms:modified xsi:type="dcterms:W3CDTF">2025-03-26T10:57:59Z</dcterms:modified>
</cp:coreProperties>
</file>